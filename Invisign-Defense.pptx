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a:lstStyle/>
          <a:p>
            <a:r>
              <a:rPr b="1" sz="1200"/>
              <a:t>SAY</a:t>
            </a:r>
          </a:p>
          <a:p>
            <a:pPr>
              <a:spcAft>
                <a:spcPts val="800"/>
              </a:spcAft>
            </a:pPr>
            <a:r>
              <a:rPr sz="1150"/>
              <a:t>Good morning. I'm Fernando Valdés, and my capstone is Invisign — a system that hides an invisible, recoverable watermark inside an image, so that when a copy leaks, the owner can tell exactly which copy it was. I'll walk through the problem, how the method works at a high level, what the experiments show, the working product I built around it, and where it sits commercially. It should take about fifteen minutes, and I'm happy to take questions at the end.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a:lstStyle/>
          <a:p>
            <a:r>
              <a:rPr b="1" sz="1200"/>
              <a:t>SAY</a:t>
            </a:r>
          </a:p>
          <a:p>
            <a:pPr>
              <a:spcAft>
                <a:spcPts val="800"/>
              </a:spcAft>
            </a:pPr>
            <a:r>
              <a:rPr sz="1150"/>
              <a:t>Organizations constantly share images they own — studios ship films to cinemas, agencies license photos, platforms seed content to partners. Copies inevitably escape. The trouble is that the obvious defenses all fail on the journey a leaked file takes: a visible watermark defaces the asset and gets cropped out; metadata and EXIF tags are stripped the moment the file is re-saved; and naive hidden marks are destroyed by re-compression and blur. So the question 'who leaked this?' usually goes unanswered.</a:t>
            </a:r>
          </a:p>
          <a:p>
            <a:pPr>
              <a:spcBef>
                <a:spcPts val="600"/>
              </a:spcBef>
            </a:pPr>
            <a:r>
              <a:rPr b="1" sz="1200"/>
              <a:t>ANTICIPATED QUESTIONS</a:t>
            </a:r>
          </a:p>
          <a:p>
            <a:pPr>
              <a:spcBef>
                <a:spcPts val="400"/>
              </a:spcBef>
            </a:pPr>
            <a:r>
              <a:rPr b="1" sz="1100"/>
              <a:t>Q.  Isn't this the same as DRM or access control?</a:t>
            </a:r>
          </a:p>
          <a:p>
            <a:r>
              <a:rPr sz="1100"/>
              <a:t>A.  No — DRM tries to PREVENT copying. We assume copying already happened and focus on attribution after the fact. They're complementary.</a:t>
            </a:r>
          </a:p>
          <a:p>
            <a:pPr>
              <a:spcBef>
                <a:spcPts val="400"/>
              </a:spcBef>
            </a:pPr>
            <a:r>
              <a:rPr b="1" sz="1100"/>
              <a:t>Q.  Why not just keep a hash of each copy?</a:t>
            </a:r>
          </a:p>
          <a:p>
            <a:r>
              <a:rPr sz="1100"/>
              <a:t>A.  A hash breaks under any edit — one changed pixel and it no longer matches. We need something that survives recompression and blur, which is exactly what a robust watermark gives you.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a:lstStyle/>
          <a:p>
            <a:r>
              <a:rPr b="1" sz="1200"/>
              <a:t>SAY</a:t>
            </a:r>
          </a:p>
          <a:p>
            <a:pPr>
              <a:spcAft>
                <a:spcPts val="800"/>
              </a:spcAft>
            </a:pPr>
            <a:r>
              <a:rPr sz="1150"/>
              <a:t>Invisign hides the mark inside the image's underlying mathematical structure rather than painting it on top. Four properties matter. It's invisible — around 50 decibels, where the eye simply can't see it. It's recoverable — we can pull the mark back out. It survives real-world edits like recompression and blur. And crucially it can be different for every recipient, so the mark itself identifies the source of a leak. On the right, the original and the marked version are indistinguishable — that's the actual marked file, not a trick.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a:lstStyle/>
          <a:p>
            <a:r>
              <a:rPr b="1" sz="1200"/>
              <a:t>SAY</a:t>
            </a:r>
          </a:p>
          <a:p>
            <a:pPr>
              <a:spcAft>
                <a:spcPts val="800"/>
              </a:spcAft>
            </a:pPr>
            <a:r>
              <a:rPr sz="1150"/>
              <a:t>The method fits owners who hold the master copy. Give each recipient a copy carrying a different hidden mark; when one leaks, you match the leak against your known marks. Because you already hold the original, the fact that extraction needs the original costs you nothing — and it turns the problem into a simple 'which recipient matches best?' comparison rather than blind detection.</a:t>
            </a:r>
          </a:p>
          <a:p>
            <a:pPr>
              <a:spcBef>
                <a:spcPts val="600"/>
              </a:spcBef>
            </a:pPr>
            <a:r>
              <a:rPr b="1" sz="1200"/>
              <a:t>ANTICIPATED QUESTIONS</a:t>
            </a:r>
          </a:p>
          <a:p>
            <a:pPr>
              <a:spcBef>
                <a:spcPts val="400"/>
              </a:spcBef>
            </a:pPr>
            <a:r>
              <a:rPr b="1" sz="1100"/>
              <a:t>Q.  Extraction needs the original image AND the original watermark — isn't that a serious limitation?</a:t>
            </a:r>
          </a:p>
          <a:p>
            <a:r>
              <a:rPr sz="1100"/>
              <a:t>A.  For this use case, no — the owner holds the master by construction, so it's free. It would only be a limitation for blind detection in the wild, which is explicitly not our target.</a:t>
            </a:r>
          </a:p>
          <a:p>
            <a:pPr>
              <a:spcBef>
                <a:spcPts val="400"/>
              </a:spcBef>
            </a:pPr>
            <a:r>
              <a:rPr b="1" sz="1100"/>
              <a:t>Q.  Why is this a better fit than proving ownership in a dispute?</a:t>
            </a:r>
          </a:p>
          <a:p>
            <a:r>
              <a:rPr sz="1100"/>
              <a:t>A.  Tracing is closed-set: you compare a leak against your own N marks and take the best match. That's a much easier and more honest problem than proving authorship to a third party, which I'll address on the methodology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a:lstStyle/>
          <a:p>
            <a:r>
              <a:rPr b="1" sz="1200"/>
              <a:t>SAY</a:t>
            </a:r>
          </a:p>
          <a:p>
            <a:pPr>
              <a:spcAft>
                <a:spcPts val="800"/>
              </a:spcAft>
            </a:pPr>
            <a:r>
              <a:rPr sz="1150"/>
              <a:t>At a high level: we tile the image into small 16-by-16 blocks. Each block has one dominant value — think of it as the block's core energy or brightness — that comes from a standard linear-algebra decomposition called the SVD. We nudge that single value by a microscopic amount driven by the watermark, then reassemble. Because we touch only the dominant value, by a tiny amount, the picture looks identical. The image on the right is that change amplified thirty times, just so you can see where it lives.</a:t>
            </a:r>
          </a:p>
          <a:p>
            <a:pPr>
              <a:spcBef>
                <a:spcPts val="600"/>
              </a:spcBef>
            </a:pPr>
            <a:r>
              <a:rPr b="1" sz="1200"/>
              <a:t>ANTICIPATED QUESTIONS</a:t>
            </a:r>
          </a:p>
          <a:p>
            <a:pPr>
              <a:spcBef>
                <a:spcPts val="400"/>
              </a:spcBef>
            </a:pPr>
            <a:r>
              <a:rPr b="1" sz="1100"/>
              <a:t>Q.  Why modify the LARGEST value in each block?</a:t>
            </a:r>
          </a:p>
          <a:p>
            <a:r>
              <a:rPr sz="1100"/>
              <a:t>A.  It carries the block's low-frequency energy, which compression, blur and averaging all preserve. That's precisely why the mark survives lossy edits.</a:t>
            </a:r>
          </a:p>
          <a:p>
            <a:pPr>
              <a:spcBef>
                <a:spcPts val="400"/>
              </a:spcBef>
            </a:pPr>
            <a:r>
              <a:rPr b="1" sz="1100"/>
              <a:t>Q.  Your source paper used a Walsh-Hadamard transform first — where did it go?</a:t>
            </a:r>
          </a:p>
          <a:p>
            <a:r>
              <a:rPr sz="1100"/>
              <a:t>A.  I removed it deliberately. That transform is orthogonal, and singular values are mathematically invariant under orthogonal transforms — so it cannot change anything this scheme reads or writes. An ablation confirmed identical results within rounding. Removing it means the same output with less computation.</a:t>
            </a:r>
          </a:p>
          <a:p>
            <a:pPr>
              <a:spcBef>
                <a:spcPts val="400"/>
              </a:spcBef>
            </a:pPr>
            <a:r>
              <a:rPr b="1" sz="1100"/>
              <a:t>Q.  Why 16×16 blocks?</a:t>
            </a:r>
          </a:p>
          <a:p>
            <a:r>
              <a:rPr sz="1100"/>
              <a:t>A.  It balances the number of blocks — which gives capacity and redundancy — against keeping each block locally coherent so one value represents it well.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a:lstStyle/>
          <a:p>
            <a:r>
              <a:rPr b="1" sz="1200"/>
              <a:t>SAY</a:t>
            </a:r>
          </a:p>
          <a:p>
            <a:pPr>
              <a:spcAft>
                <a:spcPts val="800"/>
              </a:spcAft>
            </a:pPr>
            <a:r>
              <a:rPr sz="1150"/>
              <a:t>Invisibility is measured with PSNR — higher is better, and above roughly 40 decibels the human eye can't tell the difference. At our shipping strength we sit at 51 decibels with a structural similarity of 0.999, across all 39 test images — mathematically indistinguishable. Strength is a single knob: crank it to the original paper's value and you do get visible banding, bottom-right — that's our reserve for hostile channels, but it's not what we ship.</a:t>
            </a:r>
          </a:p>
          <a:p>
            <a:pPr>
              <a:spcBef>
                <a:spcPts val="600"/>
              </a:spcBef>
            </a:pPr>
            <a:r>
              <a:rPr b="1" sz="1200"/>
              <a:t>ANTICIPATED QUESTIONS</a:t>
            </a:r>
          </a:p>
          <a:p>
            <a:pPr>
              <a:spcBef>
                <a:spcPts val="400"/>
              </a:spcBef>
            </a:pPr>
            <a:r>
              <a:rPr b="1" sz="1100"/>
              <a:t>Q.  Why exactly α = 0.01?</a:t>
            </a:r>
          </a:p>
          <a:p>
            <a:r>
              <a:rPr sz="1100"/>
              <a:t>A.  It's the sweet spot. The previous default of 0.00005 was so small the change didn't survive 8-bit rounding — it embedded nothing recoverable. The paper's 0.7 is robust but visibly degrades the image to 22 dB. 0.01 is invisible at ~51 dB yet recoverable.</a:t>
            </a:r>
          </a:p>
          <a:p>
            <a:pPr>
              <a:spcBef>
                <a:spcPts val="400"/>
              </a:spcBef>
            </a:pPr>
            <a:r>
              <a:rPr b="1" sz="1100"/>
              <a:t>Q.  What is SSIM and why report it alongside PSNR?</a:t>
            </a:r>
          </a:p>
          <a:p>
            <a:r>
              <a:rPr sz="1100"/>
              <a:t>A.  PSNR measures raw pixel error; SSIM measures perceived structural change. Reporting both is standard practice so a good score can't hide a perceptual artifact.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a:lstStyle/>
          <a:p>
            <a:r>
              <a:rPr b="1" sz="1200"/>
              <a:t>SAY</a:t>
            </a:r>
          </a:p>
          <a:p>
            <a:pPr>
              <a:spcAft>
                <a:spcPts val="800"/>
              </a:spcAft>
            </a:pPr>
            <a:r>
              <a:rPr sz="1150"/>
              <a:t>And it genuinely comes back out. We feed the marked image — plus the original — into extraction and recover the star. Recovery quality is scored with a normalized cross-correlation, where 1.0 is identical; on a clean copy we get 0.97. So both embedding and recovery work at an invisible strength. The natural next question is how that holds up under attack — which is the next slides.</a:t>
            </a:r>
          </a:p>
          <a:p>
            <a:pPr>
              <a:spcBef>
                <a:spcPts val="600"/>
              </a:spcBef>
            </a:pPr>
            <a:r>
              <a:rPr b="1" sz="1200"/>
              <a:t>ANTICIPATED QUESTIONS</a:t>
            </a:r>
          </a:p>
          <a:p>
            <a:pPr>
              <a:spcBef>
                <a:spcPts val="400"/>
              </a:spcBef>
            </a:pPr>
            <a:r>
              <a:rPr b="1" sz="1100"/>
              <a:t>Q.  That 0.97 is on a clean image — what about after attacks?</a:t>
            </a:r>
          </a:p>
          <a:p>
            <a:r>
              <a:rPr sz="1100"/>
              <a:t>A.  That's exactly what the next two slides cover — it stays strong through geometry, JPEG, blur and noise.</a:t>
            </a:r>
          </a:p>
          <a:p>
            <a:pPr>
              <a:spcBef>
                <a:spcPts val="400"/>
              </a:spcBef>
            </a:pPr>
            <a:r>
              <a:rPr b="1" sz="1100"/>
              <a:t>Q.  What is normalized cross-correlation, in plain terms?</a:t>
            </a:r>
          </a:p>
          <a:p>
            <a:r>
              <a:rPr sz="1100"/>
              <a:t>A.  A similarity score between the recovered image and the true mark: 1.0 means identical, 0 means unrelated. It's the standard robustness metric in this literature.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a:lstStyle/>
          <a:p>
            <a:r>
              <a:rPr b="1" sz="1200"/>
              <a:t>SAY</a:t>
            </a:r>
          </a:p>
          <a:p>
            <a:pPr>
              <a:spcAft>
                <a:spcPts val="800"/>
              </a:spcAft>
            </a:pPr>
            <a:r>
              <a:rPr sz="1150"/>
              <a:t>I want to be precise about how I measured, because it's easy to fool yourself here. I used the USC-SIPI suite — the 39 standard images the watermarking literature uses — and eight attacks. Here's the subtle part: our extraction rebuilds a watermark-shaped image from the watermark's own structure, so even an unmarked image produces a partial 'match' by construction — a floor of about 0.49. So I never report raw match scores. For every test I also extract from an unmarked copy, put through the same attack, and subtract that baseline. Every number I show is the genuine lift the watermark adds.</a:t>
            </a:r>
          </a:p>
          <a:p>
            <a:pPr>
              <a:spcBef>
                <a:spcPts val="600"/>
              </a:spcBef>
            </a:pPr>
            <a:r>
              <a:rPr b="1" sz="1200"/>
              <a:t>ANTICIPATED QUESTIONS</a:t>
            </a:r>
          </a:p>
          <a:p>
            <a:pPr>
              <a:spcBef>
                <a:spcPts val="400"/>
              </a:spcBef>
            </a:pPr>
            <a:r>
              <a:rPr b="1" sz="1100"/>
              <a:t>Q.  Why is there a ~0.49 match even with NO watermark embedded?</a:t>
            </a:r>
          </a:p>
          <a:p>
            <a:r>
              <a:rPr sz="1100"/>
              <a:t>A.  Extraction reconstructs using the original watermark's singular vectors, so the output is always watermark-shaped. That's the reconstruction floor; reporting lift over a no-mark control removes it and isolates the real signal.</a:t>
            </a:r>
          </a:p>
          <a:p>
            <a:pPr>
              <a:spcBef>
                <a:spcPts val="400"/>
              </a:spcBef>
            </a:pPr>
            <a:r>
              <a:rPr b="1" sz="1100"/>
              <a:t>Q.  Is 39 images really enough to draw conclusions?</a:t>
            </a:r>
          </a:p>
          <a:p>
            <a:r>
              <a:rPr sz="1100"/>
              <a:t>A.  It's the field-standard benchmark, deliberately spanning high- and low-frequency content and a grayscale/color mix. Larger purpose-built sets — BOWS-2's 10,000 images, Kodak — are available to scale the study, and the pipeline already supports them.</a:t>
            </a:r>
          </a:p>
          <a:p>
            <a:pPr>
              <a:spcBef>
                <a:spcPts val="400"/>
              </a:spcBef>
            </a:pPr>
            <a:r>
              <a:rPr b="1" sz="1100"/>
              <a:t>Q.  Doesn't subtracting a baseline inflate your method's apparent quality?</a:t>
            </a:r>
          </a:p>
          <a:p>
            <a:r>
              <a:rPr sz="1100"/>
              <a:t>A.  It's the opposite — it's the conservative choice. Raw NCC would look far better (0.8–0.9). Lift strips out everything the method doesn't actually earn.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a:lstStyle/>
          <a:p>
            <a:r>
              <a:rPr b="1" sz="1200"/>
              <a:t>SAY</a:t>
            </a:r>
          </a:p>
          <a:p>
            <a:pPr>
              <a:spcAft>
                <a:spcPts val="800"/>
              </a:spcAft>
            </a:pPr>
            <a:r>
              <a:rPr sz="1150"/>
              <a:t>Here's the headline robustness result, shown as lift over the no-mark baseline — so higher is better. Geometry is essentially free: rotation and mirroring are fully undone, because we search the eight rotation-and-mirror orientations and keep the best one. And the lossy edits a real leak imposes — JPEG, blur, noise — all recover strongly. I'll be upfront that the two low bars on the right, brightness and exposure, are the honest weak spot at this strength, and I'm happy to explain why.</a:t>
            </a:r>
          </a:p>
          <a:p>
            <a:pPr>
              <a:spcBef>
                <a:spcPts val="600"/>
              </a:spcBef>
            </a:pPr>
            <a:r>
              <a:rPr b="1" sz="1200"/>
              <a:t>ANTICIPATED QUESTIONS</a:t>
            </a:r>
          </a:p>
          <a:p>
            <a:pPr>
              <a:spcBef>
                <a:spcPts val="400"/>
              </a:spcBef>
            </a:pPr>
            <a:r>
              <a:rPr b="1" sz="1100"/>
              <a:t>Q.  Brightness and exposure are near zero — isn't that a failure?</a:t>
            </a:r>
          </a:p>
          <a:p>
            <a:r>
              <a:rPr sz="1100"/>
              <a:t>A.  They're global tone curves that rescale the singular values non-linearly, which breaks our additive model. They recover at higher strength. For still-image tracing the dominant channel is recompression, resize and blur — which we handle — so tone shifts are a secondary, bounded limitation, not a showstopper.</a:t>
            </a:r>
          </a:p>
          <a:p>
            <a:pPr>
              <a:spcBef>
                <a:spcPts val="400"/>
              </a:spcBef>
            </a:pPr>
            <a:r>
              <a:rPr b="1" sz="1100"/>
              <a:t>Q.  How do you undo a rotation without knowing the angle?</a:t>
            </a:r>
          </a:p>
          <a:p>
            <a:r>
              <a:rPr sz="1100"/>
              <a:t>A.  For the lossless 90-degree and mirror family we simply try all eight orientations and keep the one that matches best — the correct orientation wins naturally.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a:lstStyle/>
          <a:p>
            <a:r>
              <a:rPr b="1" sz="1200"/>
              <a:t>SAY</a:t>
            </a:r>
          </a:p>
          <a:p>
            <a:pPr>
              <a:spcAft>
                <a:spcPts val="800"/>
              </a:spcAft>
            </a:pPr>
            <a:r>
              <a:rPr sz="1150"/>
              <a:t>A fair challenge: why not just faintly add the watermark on top and subtract it later? I implemented exactly that, plus the classic LSB method, and ran all three through the same battery. On pristine images the simple overlay is genuinely competitive — I'm not hiding that. But a leaked image is never pristine. On precisely the distortions a leak imposes — noise, JPEG, blur, pixelation — the SVD mark is the only one of the three that survives. That's the specific, honest value of the method: robustness to lossy processing.</a:t>
            </a:r>
          </a:p>
          <a:p>
            <a:pPr>
              <a:spcBef>
                <a:spcPts val="600"/>
              </a:spcBef>
            </a:pPr>
            <a:r>
              <a:rPr b="1" sz="1200"/>
              <a:t>ANTICIPATED QUESTIONS</a:t>
            </a:r>
          </a:p>
          <a:p>
            <a:pPr>
              <a:spcBef>
                <a:spcPts val="400"/>
              </a:spcBef>
            </a:pPr>
            <a:r>
              <a:rPr b="1" sz="1100"/>
              <a:t>Q.  So on clean, geometric and tone attacks the trivial overlay ties or beats you — doesn't that undercut SVD?</a:t>
            </a:r>
          </a:p>
          <a:p>
            <a:r>
              <a:rPr sz="1100"/>
              <a:t>A.  On those cases, yes, and I report it openly. The point is that real redistribution is lossy, and that's the one regime where the simple methods collapse and SVD holds. The methods are complementary; SVD earns its place on the attacks that actually happen in the wild.</a:t>
            </a:r>
          </a:p>
          <a:p>
            <a:pPr>
              <a:spcBef>
                <a:spcPts val="400"/>
              </a:spcBef>
            </a:pPr>
            <a:r>
              <a:rPr b="1" sz="1100"/>
              <a:t>Q.  Why does LSB do so badly?</a:t>
            </a:r>
          </a:p>
          <a:p>
            <a:r>
              <a:rPr sz="1100"/>
              <a:t>A.  It's blind — it can't subtract the original — so any change to pixel values wipes it, and it has no way to re-synchronize after a rotation.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a:lstStyle/>
          <a:p>
            <a:r>
              <a:rPr b="1" sz="1200"/>
              <a:t>SAY</a:t>
            </a:r>
          </a:p>
          <a:p>
            <a:pPr>
              <a:spcAft>
                <a:spcPts val="800"/>
              </a:spcAft>
            </a:pPr>
            <a:r>
              <a:rPr sz="1150"/>
              <a:t>This isn't just an algorithm — it's a working application. A React front-end handles upload, engraving, extraction and results; a Laravel API owns accounts, storage and orchestration; a stateless Python service does the actual watermarking math; and MariaDB stores the records. The whole stack comes up with a single Docker Compose command.</a:t>
            </a:r>
          </a:p>
          <a:p>
            <a:pPr>
              <a:spcBef>
                <a:spcPts val="600"/>
              </a:spcBef>
            </a:pPr>
            <a:r>
              <a:rPr b="1" sz="1200"/>
              <a:t>ANTICIPATED QUESTIONS</a:t>
            </a:r>
          </a:p>
          <a:p>
            <a:pPr>
              <a:spcBef>
                <a:spcPts val="400"/>
              </a:spcBef>
            </a:pPr>
            <a:r>
              <a:rPr b="1" sz="1100"/>
              <a:t>Q.  Why split the watermarking into a separate Python service?</a:t>
            </a:r>
          </a:p>
          <a:p>
            <a:r>
              <a:rPr sz="1100"/>
              <a:t>A.  The math lives naturally in NumPy and OpenCV, so I isolated it as a stateless microservice — it's language-appropriate, independently scalable, and keeps Laravel focused on state and business logic.</a:t>
            </a:r>
          </a:p>
          <a:p>
            <a:pPr>
              <a:spcBef>
                <a:spcPts val="400"/>
              </a:spcBef>
            </a:pPr>
            <a:r>
              <a:rPr b="1" sz="1100"/>
              <a:t>Q.  Why keep the Python service stateless?</a:t>
            </a:r>
          </a:p>
          <a:p>
            <a:r>
              <a:rPr sz="1100"/>
              <a:t>A.  It makes it trivially horizontally scalable and easy to reason about — all persistence lives in Laravel and the database.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a:lstStyle/>
          <a:p>
            <a:r>
              <a:rPr b="1" sz="1200"/>
              <a:t>SAY</a:t>
            </a:r>
          </a:p>
          <a:p>
            <a:pPr>
              <a:spcAft>
                <a:spcPts val="800"/>
              </a:spcAft>
            </a:pPr>
            <a:r>
              <a:rPr sz="1150"/>
              <a:t>Wrapped in a product: users register into a private workspace, upload host images and a square logo mark, then trigger engravings or extractions and review the results and match scores in a dashboard. It's deployed and running at invisign dot com.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a:lstStyle/>
          <a:p>
            <a:r>
              <a:rPr b="1" sz="1200"/>
              <a:t>SAY</a:t>
            </a:r>
          </a:p>
          <a:p>
            <a:pPr>
              <a:spcAft>
                <a:spcPts val="800"/>
              </a:spcAft>
            </a:pPr>
            <a:r>
              <a:rPr sz="1150"/>
              <a:t>Commercially, watermarking is several overlapping segments. Invisign targets forensic tracing — a different mark per recipient. That's a real, monetized segment, most mature in video today and thinner for still images. The tailwinds are strong: ever more image sharing online, and generative AI raising the stakes on provenance and authenticity — both a threat and a driver.</a:t>
            </a:r>
          </a:p>
          <a:p>
            <a:pPr>
              <a:spcBef>
                <a:spcPts val="600"/>
              </a:spcBef>
            </a:pPr>
            <a:r>
              <a:rPr b="1" sz="1200"/>
              <a:t>ANTICIPATED QUESTIONS</a:t>
            </a:r>
          </a:p>
          <a:p>
            <a:pPr>
              <a:spcBef>
                <a:spcPts val="400"/>
              </a:spcBef>
            </a:pPr>
            <a:r>
              <a:rPr b="1" sz="1100"/>
              <a:t>Q.  Why target the smallest slice — still-image forensics?</a:t>
            </a:r>
          </a:p>
          <a:p>
            <a:r>
              <a:rPr sz="1100"/>
              <a:t>A.  It's underserved precisely because it's hard, and it's the slice my method genuinely fits. Video-forensic is larger but dominated by incumbents; AI-provenance answers a different question entirely.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a:lstStyle/>
          <a:p>
            <a:r>
              <a:rPr b="1" sz="1200"/>
              <a:t>SAY</a:t>
            </a:r>
          </a:p>
          <a:p>
            <a:pPr>
              <a:spcAft>
                <a:spcPts val="800"/>
              </a:spcAft>
            </a:pPr>
            <a:r>
              <a:rPr sz="1150"/>
              <a:t>The closest analog is IMATAG — invisible forensic watermarking for images, plus web monitoring to find the leaked copy, which we don't attempt. Digimarc is the broad incumbent, spanning images, audio and packaging. Verimatrix and NexGuard do exactly our studio-to-cinema model, but for video — which is the proof that the use case is real and monetizable. And C2PA and SynthID are adjacent: they answer 'is this AI-made?' rather than 'who leaked it?'</a:t>
            </a:r>
          </a:p>
          <a:p>
            <a:pPr>
              <a:spcBef>
                <a:spcPts val="600"/>
              </a:spcBef>
            </a:pPr>
            <a:r>
              <a:rPr b="1" sz="1200"/>
              <a:t>ANTICIPATED QUESTIONS</a:t>
            </a:r>
          </a:p>
          <a:p>
            <a:pPr>
              <a:spcBef>
                <a:spcPts val="400"/>
              </a:spcBef>
            </a:pPr>
            <a:r>
              <a:rPr b="1" sz="1100"/>
              <a:t>Q.  How are you different from IMATAG, concretely?</a:t>
            </a:r>
          </a:p>
          <a:p>
            <a:r>
              <a:rPr sz="1100"/>
              <a:t>A.  IMATAG is the productized, scaled version: embed plus web crawling to find leaks, plus serial capacity. I implement the transparent embed/extract core. Monitoring and capacity are exactly my roadmap, not things I claim today.</a:t>
            </a:r>
          </a:p>
          <a:p>
            <a:pPr>
              <a:spcBef>
                <a:spcPts val="400"/>
              </a:spcBef>
            </a:pPr>
            <a:r>
              <a:rPr b="1" sz="1100"/>
              <a:t>Q.  If NexGuard already does this for video, why does still-image matter?</a:t>
            </a:r>
          </a:p>
          <a:p>
            <a:r>
              <a:rPr sz="1100"/>
              <a:t>A.  Different medium, different channel. Stills dominate press, stock and social leaks, and the robustness profile — JPEG, resize, blur — is distinct from video. It's an underserved niche.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a:lstStyle/>
          <a:p>
            <a:r>
              <a:rPr b="1" sz="1200"/>
              <a:t>SAY</a:t>
            </a:r>
          </a:p>
          <a:p>
            <a:pPr>
              <a:spcAft>
                <a:spcPts val="800"/>
              </a:spcAft>
            </a:pPr>
            <a:r>
              <a:rPr sz="1150"/>
              <a:t>I'm candid that this is a demonstrator, not a finished product. Three build-outs would close the gap. First, web monitoring — automatically finding leaked copies, rather than assuming the suspect image is already in hand. Second, serial capacity with collusion resistance — carrying thousands of coded marks, hardened against recipients pooling their copies to wash the mark out, which needs anti-collusion fingerprint codes like Tardos codes. And third, robustness to harder channels — especially video and camcorder capture, the dominant real-world leak path.</a:t>
            </a:r>
          </a:p>
          <a:p>
            <a:pPr>
              <a:spcBef>
                <a:spcPts val="600"/>
              </a:spcBef>
            </a:pPr>
            <a:r>
              <a:rPr b="1" sz="1200"/>
              <a:t>ANTICIPATED QUESTIONS</a:t>
            </a:r>
          </a:p>
          <a:p>
            <a:pPr>
              <a:spcBef>
                <a:spcPts val="400"/>
              </a:spcBef>
            </a:pPr>
            <a:r>
              <a:rPr b="1" sz="1100"/>
              <a:t>Q.  What exactly is a collusion attack?</a:t>
            </a:r>
          </a:p>
          <a:p>
            <a:r>
              <a:rPr sz="1100"/>
              <a:t>A.  Several recipients average their differently-marked copies together to erase the per-copy mark. Defeating it needs fingerprinting codes designed for it — that's a known, well-studied area, and it's on the roadmap.</a:t>
            </a:r>
          </a:p>
          <a:p>
            <a:pPr>
              <a:spcBef>
                <a:spcPts val="400"/>
              </a:spcBef>
            </a:pPr>
            <a:r>
              <a:rPr b="1" sz="1100"/>
              <a:t>Q.  How far is this from being commercially viable?</a:t>
            </a:r>
          </a:p>
          <a:p>
            <a:r>
              <a:rPr sz="1100"/>
              <a:t>A.  The embed/extract core is solid and honestly measured. The gap to a product is engineering and scope — monitoring, capacity, video — not a fundamental flaw in the method.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a:lstStyle/>
          <a:p>
            <a:r>
              <a:rPr b="1" sz="1200"/>
              <a:t>SAY</a:t>
            </a:r>
          </a:p>
          <a:p>
            <a:pPr>
              <a:spcAft>
                <a:spcPts val="800"/>
              </a:spcAft>
            </a:pPr>
            <a:r>
              <a:rPr sz="1150"/>
              <a:t>To summarize. Invisign is a working invisible watermark that embeds and recovers at a strength the eye can't see. It's robust where it counts — geometry, JPEG, blur and noise, the edits a leaked image really undergoes. It's measured honestly, against true no-mark baselines on a standard benchmark. And it's a complete, deployed application, not just an algorithm. Thank you — I'd be glad to take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a:lstStyle/>
          <a:p>
            <a:r>
              <a:rPr b="1" sz="1200"/>
              <a:t>SAY</a:t>
            </a:r>
          </a:p>
          <a:p>
            <a:pPr>
              <a:spcAft>
                <a:spcPts val="800"/>
              </a:spcAft>
            </a:pPr>
            <a:r>
              <a:rPr sz="1150"/>
              <a:t>Thank you — questions welcome. The live site and the source repository are on screen.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C33"/>
        </a:solidFill>
        <a:effectLst/>
      </p:bgPr>
    </p:bg>
    <p:spTree>
      <p:nvGrpSpPr>
        <p:cNvPr id="1" name=""/>
        <p:cNvGrpSpPr/>
        <p:nvPr/>
      </p:nvGrpSpPr>
      <p:grpSpPr/>
      <p:sp>
        <p:nvSpPr>
          <p:cNvPr id="2" name="5-Point Star 1"/>
          <p:cNvSpPr/>
          <p:nvPr/>
        </p:nvSpPr>
        <p:spPr>
          <a:xfrm>
            <a:off x="8869680" y="-914400"/>
            <a:ext cx="5120640" cy="5120640"/>
          </a:xfrm>
          <a:prstGeom prst="star5">
            <a:avLst/>
          </a:prstGeom>
          <a:solidFill>
            <a:srgbClr val="20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5-Point Star 2"/>
          <p:cNvSpPr/>
          <p:nvPr/>
        </p:nvSpPr>
        <p:spPr>
          <a:xfrm>
            <a:off x="10332720" y="3383280"/>
            <a:ext cx="2377440" cy="2377440"/>
          </a:xfrm>
          <a:prstGeom prst="star5">
            <a:avLst/>
          </a:prstGeom>
          <a:solidFill>
            <a:srgbClr val="20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874519"/>
            <a:ext cx="640080" cy="109728"/>
          </a:xfrm>
          <a:prstGeom prst="rect">
            <a:avLst/>
          </a:prstGeom>
          <a:solidFill>
            <a:srgbClr val="1FA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103120"/>
            <a:ext cx="10058400" cy="1280160"/>
          </a:xfrm>
          <a:prstGeom prst="rect">
            <a:avLst/>
          </a:prstGeom>
          <a:noFill/>
        </p:spPr>
        <p:txBody>
          <a:bodyPr wrap="square" anchor="t" lIns="0" rIns="0" tIns="0" bIns="0">
            <a:spAutoFit/>
          </a:bodyPr>
          <a:lstStyle/>
          <a:p>
            <a:pPr algn="l">
              <a:lnSpc>
                <a:spcPct val="105000"/>
              </a:lnSpc>
              <a:spcBef>
                <a:spcPts val="0"/>
              </a:spcBef>
              <a:spcAft>
                <a:spcPts val="600"/>
              </a:spcAft>
            </a:pPr>
            <a:r>
              <a:rPr sz="6600" b="1">
                <a:solidFill>
                  <a:srgbClr val="FFFFFF"/>
                </a:solidFill>
                <a:latin typeface="Calibri"/>
              </a:rPr>
              <a:t>Invisign</a:t>
            </a:r>
          </a:p>
        </p:txBody>
      </p:sp>
      <p:sp>
        <p:nvSpPr>
          <p:cNvPr id="6" name="TextBox 5"/>
          <p:cNvSpPr txBox="1"/>
          <p:nvPr/>
        </p:nvSpPr>
        <p:spPr>
          <a:xfrm>
            <a:off x="658368" y="3401568"/>
            <a:ext cx="9601200" cy="914400"/>
          </a:xfrm>
          <a:prstGeom prst="rect">
            <a:avLst/>
          </a:prstGeom>
          <a:noFill/>
        </p:spPr>
        <p:txBody>
          <a:bodyPr wrap="square" anchor="t" lIns="0" rIns="0" tIns="0" bIns="0">
            <a:spAutoFit/>
          </a:bodyPr>
          <a:lstStyle/>
          <a:p>
            <a:pPr algn="l">
              <a:lnSpc>
                <a:spcPct val="105000"/>
              </a:lnSpc>
              <a:spcBef>
                <a:spcPts val="0"/>
              </a:spcBef>
              <a:spcAft>
                <a:spcPts val="600"/>
              </a:spcAft>
            </a:pPr>
            <a:r>
              <a:rPr sz="2400" b="0">
                <a:solidFill>
                  <a:srgbClr val="C9D2E0"/>
                </a:solidFill>
                <a:latin typeface="Calibri"/>
              </a:rPr>
              <a:t>Embedding &amp; extraction of an invisible watermark in an image</a:t>
            </a:r>
          </a:p>
        </p:txBody>
      </p:sp>
      <p:sp>
        <p:nvSpPr>
          <p:cNvPr id="7" name="Rectangle 6"/>
          <p:cNvSpPr/>
          <p:nvPr/>
        </p:nvSpPr>
        <p:spPr>
          <a:xfrm>
            <a:off x="658368" y="4343400"/>
            <a:ext cx="2194560" cy="27432"/>
          </a:xfrm>
          <a:prstGeom prst="rect">
            <a:avLst/>
          </a:prstGeom>
          <a:solidFill>
            <a:srgbClr val="20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074920"/>
            <a:ext cx="10058400" cy="914400"/>
          </a:xfrm>
          <a:prstGeom prst="rect">
            <a:avLst/>
          </a:prstGeom>
          <a:noFill/>
        </p:spPr>
        <p:txBody>
          <a:bodyPr wrap="square" anchor="t" lIns="0" rIns="0" tIns="0" bIns="0">
            <a:spAutoFit/>
          </a:bodyPr>
          <a:lstStyle/>
          <a:p>
            <a:pPr algn="l">
              <a:lnSpc>
                <a:spcPct val="105000"/>
              </a:lnSpc>
              <a:spcBef>
                <a:spcPts val="0"/>
              </a:spcBef>
              <a:spcAft>
                <a:spcPts val="400"/>
              </a:spcAft>
            </a:pPr>
            <a:r>
              <a:rPr sz="1800" b="1">
                <a:solidFill>
                  <a:srgbClr val="FFFFFF"/>
                </a:solidFill>
                <a:latin typeface="Calibri"/>
              </a:rPr>
              <a:t>Fernando Valdés García</a:t>
            </a:r>
          </a:p>
          <a:p>
            <a:pPr algn="l">
              <a:lnSpc>
                <a:spcPct val="105000"/>
              </a:lnSpc>
              <a:spcBef>
                <a:spcPts val="0"/>
              </a:spcBef>
              <a:spcAft>
                <a:spcPts val="400"/>
              </a:spcAft>
            </a:pPr>
            <a:r>
              <a:rPr sz="1400" b="0">
                <a:solidFill>
                  <a:srgbClr val="1FA97D"/>
                </a:solidFill>
                <a:latin typeface="Calibri"/>
              </a:rPr>
              <a:t>Capstone project  ·  Forensic image watermarking</a:t>
            </a:r>
          </a:p>
        </p:txBody>
      </p:sp>
      <p:sp>
        <p:nvSpPr>
          <p:cNvPr id="9" name="TextBox 8"/>
          <p:cNvSpPr txBox="1"/>
          <p:nvPr/>
        </p:nvSpPr>
        <p:spPr>
          <a:xfrm>
            <a:off x="8595360" y="6327648"/>
            <a:ext cx="2926080" cy="365760"/>
          </a:xfrm>
          <a:prstGeom prst="rect">
            <a:avLst/>
          </a:prstGeom>
          <a:noFill/>
        </p:spPr>
        <p:txBody>
          <a:bodyPr wrap="square" anchor="t" lIns="0" rIns="0" tIns="0" bIns="0">
            <a:spAutoFit/>
          </a:bodyPr>
          <a:lstStyle/>
          <a:p>
            <a:pPr algn="r">
              <a:lnSpc>
                <a:spcPct val="105000"/>
              </a:lnSpc>
              <a:spcBef>
                <a:spcPts val="0"/>
              </a:spcBef>
              <a:spcAft>
                <a:spcPts val="600"/>
              </a:spcAft>
            </a:pPr>
            <a:r>
              <a:rPr sz="1300" b="1">
                <a:solidFill>
                  <a:srgbClr val="C9D2E0"/>
                </a:solidFill>
                <a:latin typeface="Calibri"/>
              </a:rPr>
              <a:t>invisign.com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566928"/>
            <a:ext cx="502920" cy="82296"/>
          </a:xfrm>
          <a:prstGeom prst="rect">
            <a:avLst/>
          </a:prstGeom>
          <a:solidFill>
            <a:srgbClr val="1FA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0160" y="411480"/>
            <a:ext cx="9144000" cy="365760"/>
          </a:xfrm>
          <a:prstGeom prst="rect">
            <a:avLst/>
          </a:prstGeom>
          <a:noFill/>
        </p:spPr>
        <p:txBody>
          <a:bodyPr wrap="square" anchor="t" lIns="0" rIns="0" tIns="0" bIns="0">
            <a:spAutoFit/>
          </a:bodyPr>
          <a:lstStyle/>
          <a:p>
            <a:pPr algn="l">
              <a:lnSpc>
                <a:spcPct val="105000"/>
              </a:lnSpc>
              <a:spcBef>
                <a:spcPts val="0"/>
              </a:spcBef>
              <a:spcAft>
                <a:spcPts val="600"/>
              </a:spcAft>
            </a:pPr>
            <a:r>
              <a:rPr sz="1400" b="1">
                <a:solidFill>
                  <a:srgbClr val="1FA97D"/>
                </a:solidFill>
                <a:latin typeface="Calibri"/>
              </a:rPr>
              <a:t>THE PROBLEM</a:t>
            </a:r>
          </a:p>
        </p:txBody>
      </p:sp>
      <p:sp>
        <p:nvSpPr>
          <p:cNvPr id="4" name="TextBox 3"/>
          <p:cNvSpPr txBox="1"/>
          <p:nvPr/>
        </p:nvSpPr>
        <p:spPr>
          <a:xfrm>
            <a:off x="640080" y="841248"/>
            <a:ext cx="10972800" cy="914400"/>
          </a:xfrm>
          <a:prstGeom prst="rect">
            <a:avLst/>
          </a:prstGeom>
          <a:noFill/>
        </p:spPr>
        <p:txBody>
          <a:bodyPr wrap="square" anchor="t" lIns="0" rIns="0" tIns="0" bIns="0">
            <a:spAutoFit/>
          </a:bodyPr>
          <a:lstStyle/>
          <a:p>
            <a:pPr algn="l">
              <a:lnSpc>
                <a:spcPct val="100000"/>
              </a:lnSpc>
              <a:spcBef>
                <a:spcPts val="0"/>
              </a:spcBef>
              <a:spcAft>
                <a:spcPts val="600"/>
              </a:spcAft>
            </a:pPr>
            <a:r>
              <a:rPr sz="3000" b="1">
                <a:solidFill>
                  <a:srgbClr val="1A2238"/>
                </a:solidFill>
                <a:latin typeface="Calibri"/>
              </a:rPr>
              <a:t>When an image leaks, who leaked it?</a:t>
            </a:r>
          </a:p>
        </p:txBody>
      </p:sp>
      <p:sp>
        <p:nvSpPr>
          <p:cNvPr id="5" name="TextBox 4"/>
          <p:cNvSpPr txBox="1"/>
          <p:nvPr/>
        </p:nvSpPr>
        <p:spPr>
          <a:xfrm>
            <a:off x="640080" y="1600200"/>
            <a:ext cx="10972800" cy="822960"/>
          </a:xfrm>
          <a:prstGeom prst="rect">
            <a:avLst/>
          </a:prstGeom>
          <a:noFill/>
        </p:spPr>
        <p:txBody>
          <a:bodyPr wrap="square" anchor="t" lIns="0" rIns="0" tIns="0" bIns="0">
            <a:spAutoFit/>
          </a:bodyPr>
          <a:lstStyle/>
          <a:p>
            <a:pPr algn="l">
              <a:lnSpc>
                <a:spcPct val="115000"/>
              </a:lnSpc>
              <a:spcBef>
                <a:spcPts val="0"/>
              </a:spcBef>
              <a:spcAft>
                <a:spcPts val="600"/>
              </a:spcAft>
            </a:pPr>
            <a:r>
              <a:rPr sz="1800" b="0">
                <a:solidFill>
                  <a:srgbClr val="5A6473"/>
                </a:solidFill>
                <a:latin typeface="Calibri"/>
              </a:rPr>
              <a:t>Organizations constantly share images they own — and copies escape. A confidential photo, a licensed asset, a pre-release still ends up somewhere it shouldn't.</a:t>
            </a:r>
          </a:p>
        </p:txBody>
      </p:sp>
      <p:sp>
        <p:nvSpPr>
          <p:cNvPr id="6" name="Rounded Rectangle 5"/>
          <p:cNvSpPr/>
          <p:nvPr/>
        </p:nvSpPr>
        <p:spPr>
          <a:xfrm>
            <a:off x="640080" y="2697480"/>
            <a:ext cx="3511296" cy="2286000"/>
          </a:xfrm>
          <a:prstGeom prst="roundRect">
            <a:avLst>
              <a:gd name="adj" fmla="val 7000"/>
            </a:avLst>
          </a:prstGeom>
          <a:solidFill>
            <a:srgbClr val="F5F7FA"/>
          </a:solidFill>
          <a:ln>
            <a:noFill/>
          </a:ln>
          <a:effectLst/>
          <a:effectLst>
            <a:outerShdw blurRad="80000" dist="30000" dir="5400000" rotWithShape="0">
              <a:srgbClr val="1A2238">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50976" y="2971800"/>
            <a:ext cx="749808" cy="749808"/>
          </a:xfrm>
          <a:prstGeom prst="ellipse">
            <a:avLst/>
          </a:prstGeom>
          <a:solidFill>
            <a:srgbClr val="F7E2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85941" y="3226734"/>
            <a:ext cx="479877" cy="239938"/>
          </a:xfrm>
          <a:prstGeom prst="ellipse">
            <a:avLst/>
          </a:prstGeom>
          <a:solidFill>
            <a:srgbClr val="D24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43401" y="3264225"/>
            <a:ext cx="164957" cy="16495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88389" y="3309213"/>
            <a:ext cx="74980" cy="74980"/>
          </a:xfrm>
          <a:prstGeom prst="ellipse">
            <a:avLst/>
          </a:prstGeom>
          <a:solidFill>
            <a:srgbClr val="D24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3867912"/>
            <a:ext cx="2834640" cy="457200"/>
          </a:xfrm>
          <a:prstGeom prst="rect">
            <a:avLst/>
          </a:prstGeom>
          <a:noFill/>
        </p:spPr>
        <p:txBody>
          <a:bodyPr wrap="square" anchor="t" lIns="0" rIns="0" tIns="0" bIns="0">
            <a:spAutoFit/>
          </a:bodyPr>
          <a:lstStyle/>
          <a:p>
            <a:pPr algn="l">
              <a:lnSpc>
                <a:spcPct val="105000"/>
              </a:lnSpc>
              <a:spcBef>
                <a:spcPts val="0"/>
              </a:spcBef>
              <a:spcAft>
                <a:spcPts val="600"/>
              </a:spcAft>
            </a:pPr>
            <a:r>
              <a:rPr sz="1800" b="1">
                <a:solidFill>
                  <a:srgbClr val="1A2238"/>
                </a:solidFill>
                <a:latin typeface="Calibri"/>
              </a:rPr>
              <a:t>Visible watermarks</a:t>
            </a:r>
          </a:p>
        </p:txBody>
      </p:sp>
      <p:sp>
        <p:nvSpPr>
          <p:cNvPr id="12" name="TextBox 11"/>
          <p:cNvSpPr txBox="1"/>
          <p:nvPr/>
        </p:nvSpPr>
        <p:spPr>
          <a:xfrm>
            <a:off x="969264" y="4288536"/>
            <a:ext cx="2880360" cy="731520"/>
          </a:xfrm>
          <a:prstGeom prst="rect">
            <a:avLst/>
          </a:prstGeom>
          <a:noFill/>
        </p:spPr>
        <p:txBody>
          <a:bodyPr wrap="square" anchor="t" lIns="0" rIns="0" tIns="0" bIns="0">
            <a:spAutoFit/>
          </a:bodyPr>
          <a:lstStyle/>
          <a:p>
            <a:pPr algn="l">
              <a:lnSpc>
                <a:spcPct val="113000"/>
              </a:lnSpc>
              <a:spcBef>
                <a:spcPts val="0"/>
              </a:spcBef>
              <a:spcAft>
                <a:spcPts val="600"/>
              </a:spcAft>
            </a:pPr>
            <a:r>
              <a:rPr sz="1400" b="0">
                <a:solidFill>
                  <a:srgbClr val="5A6473"/>
                </a:solidFill>
                <a:latin typeface="Calibri"/>
              </a:rPr>
              <a:t>Deface the image — and get cropped out anyway.</a:t>
            </a:r>
          </a:p>
        </p:txBody>
      </p:sp>
      <p:sp>
        <p:nvSpPr>
          <p:cNvPr id="13" name="Rounded Rectangle 12"/>
          <p:cNvSpPr/>
          <p:nvPr/>
        </p:nvSpPr>
        <p:spPr>
          <a:xfrm>
            <a:off x="4357116" y="2697480"/>
            <a:ext cx="3511296" cy="2286000"/>
          </a:xfrm>
          <a:prstGeom prst="roundRect">
            <a:avLst>
              <a:gd name="adj" fmla="val 7000"/>
            </a:avLst>
          </a:prstGeom>
          <a:solidFill>
            <a:srgbClr val="F5F7FA"/>
          </a:solidFill>
          <a:ln>
            <a:noFill/>
          </a:ln>
          <a:effectLst/>
          <a:effectLst>
            <a:outerShdw blurRad="80000" dist="30000" dir="5400000" rotWithShape="0">
              <a:srgbClr val="1A2238">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8012" y="2971800"/>
            <a:ext cx="749808" cy="749808"/>
          </a:xfrm>
          <a:prstGeom prst="ellipse">
            <a:avLst/>
          </a:prstGeom>
          <a:solidFill>
            <a:srgbClr val="F7E2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07950" y="3166750"/>
            <a:ext cx="269930" cy="359907"/>
          </a:xfrm>
          <a:prstGeom prst="roundRect">
            <a:avLst/>
          </a:prstGeom>
          <a:solidFill>
            <a:srgbClr val="D24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960437" y="3249228"/>
            <a:ext cx="164957" cy="2624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60437" y="3331707"/>
            <a:ext cx="164957" cy="2624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60437" y="3414186"/>
            <a:ext cx="164957" cy="2624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86300" y="3867912"/>
            <a:ext cx="2834640" cy="457200"/>
          </a:xfrm>
          <a:prstGeom prst="rect">
            <a:avLst/>
          </a:prstGeom>
          <a:noFill/>
        </p:spPr>
        <p:txBody>
          <a:bodyPr wrap="square" anchor="t" lIns="0" rIns="0" tIns="0" bIns="0">
            <a:spAutoFit/>
          </a:bodyPr>
          <a:lstStyle/>
          <a:p>
            <a:pPr algn="l">
              <a:lnSpc>
                <a:spcPct val="105000"/>
              </a:lnSpc>
              <a:spcBef>
                <a:spcPts val="0"/>
              </a:spcBef>
              <a:spcAft>
                <a:spcPts val="600"/>
              </a:spcAft>
            </a:pPr>
            <a:r>
              <a:rPr sz="1800" b="1">
                <a:solidFill>
                  <a:srgbClr val="1A2238"/>
                </a:solidFill>
                <a:latin typeface="Calibri"/>
              </a:rPr>
              <a:t>Metadata / EXIF tags</a:t>
            </a:r>
          </a:p>
        </p:txBody>
      </p:sp>
      <p:sp>
        <p:nvSpPr>
          <p:cNvPr id="20" name="TextBox 19"/>
          <p:cNvSpPr txBox="1"/>
          <p:nvPr/>
        </p:nvSpPr>
        <p:spPr>
          <a:xfrm>
            <a:off x="4686300" y="4288536"/>
            <a:ext cx="2880360" cy="731520"/>
          </a:xfrm>
          <a:prstGeom prst="rect">
            <a:avLst/>
          </a:prstGeom>
          <a:noFill/>
        </p:spPr>
        <p:txBody>
          <a:bodyPr wrap="square" anchor="t" lIns="0" rIns="0" tIns="0" bIns="0">
            <a:spAutoFit/>
          </a:bodyPr>
          <a:lstStyle/>
          <a:p>
            <a:pPr algn="l">
              <a:lnSpc>
                <a:spcPct val="113000"/>
              </a:lnSpc>
              <a:spcBef>
                <a:spcPts val="0"/>
              </a:spcBef>
              <a:spcAft>
                <a:spcPts val="600"/>
              </a:spcAft>
            </a:pPr>
            <a:r>
              <a:rPr sz="1400" b="0">
                <a:solidFill>
                  <a:srgbClr val="5A6473"/>
                </a:solidFill>
                <a:latin typeface="Calibri"/>
              </a:rPr>
              <a:t>Stripped the instant a file is re-saved or re-uploaded.</a:t>
            </a:r>
          </a:p>
        </p:txBody>
      </p:sp>
      <p:sp>
        <p:nvSpPr>
          <p:cNvPr id="21" name="Rounded Rectangle 20"/>
          <p:cNvSpPr/>
          <p:nvPr/>
        </p:nvSpPr>
        <p:spPr>
          <a:xfrm>
            <a:off x="8074152" y="2697480"/>
            <a:ext cx="3511296" cy="2286000"/>
          </a:xfrm>
          <a:prstGeom prst="roundRect">
            <a:avLst>
              <a:gd name="adj" fmla="val 7000"/>
            </a:avLst>
          </a:prstGeom>
          <a:solidFill>
            <a:srgbClr val="F5F7FA"/>
          </a:solidFill>
          <a:ln>
            <a:noFill/>
          </a:ln>
          <a:effectLst/>
          <a:effectLst>
            <a:outerShdw blurRad="80000" dist="30000" dir="5400000" rotWithShape="0">
              <a:srgbClr val="1A2238">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385048" y="2971800"/>
            <a:ext cx="749808" cy="749808"/>
          </a:xfrm>
          <a:prstGeom prst="ellipse">
            <a:avLst/>
          </a:prstGeom>
          <a:solidFill>
            <a:srgbClr val="F7E2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ardrop 22"/>
          <p:cNvSpPr/>
          <p:nvPr/>
        </p:nvSpPr>
        <p:spPr>
          <a:xfrm rot="18900000">
            <a:off x="8624986" y="3211738"/>
            <a:ext cx="269930" cy="269930"/>
          </a:xfrm>
          <a:prstGeom prst="teardrop">
            <a:avLst/>
          </a:prstGeom>
          <a:solidFill>
            <a:srgbClr val="D24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726210" y="3369198"/>
            <a:ext cx="59984" cy="5998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03336" y="3867912"/>
            <a:ext cx="2834640" cy="457200"/>
          </a:xfrm>
          <a:prstGeom prst="rect">
            <a:avLst/>
          </a:prstGeom>
          <a:noFill/>
        </p:spPr>
        <p:txBody>
          <a:bodyPr wrap="square" anchor="t" lIns="0" rIns="0" tIns="0" bIns="0">
            <a:spAutoFit/>
          </a:bodyPr>
          <a:lstStyle/>
          <a:p>
            <a:pPr algn="l">
              <a:lnSpc>
                <a:spcPct val="105000"/>
              </a:lnSpc>
              <a:spcBef>
                <a:spcPts val="0"/>
              </a:spcBef>
              <a:spcAft>
                <a:spcPts val="600"/>
              </a:spcAft>
            </a:pPr>
            <a:r>
              <a:rPr sz="1800" b="1">
                <a:solidFill>
                  <a:srgbClr val="1A2238"/>
                </a:solidFill>
                <a:latin typeface="Calibri"/>
              </a:rPr>
              <a:t>Simple hidden marks</a:t>
            </a:r>
          </a:p>
        </p:txBody>
      </p:sp>
      <p:sp>
        <p:nvSpPr>
          <p:cNvPr id="26" name="TextBox 25"/>
          <p:cNvSpPr txBox="1"/>
          <p:nvPr/>
        </p:nvSpPr>
        <p:spPr>
          <a:xfrm>
            <a:off x="8403336" y="4288536"/>
            <a:ext cx="2880360" cy="731520"/>
          </a:xfrm>
          <a:prstGeom prst="rect">
            <a:avLst/>
          </a:prstGeom>
          <a:noFill/>
        </p:spPr>
        <p:txBody>
          <a:bodyPr wrap="square" anchor="t" lIns="0" rIns="0" tIns="0" bIns="0">
            <a:spAutoFit/>
          </a:bodyPr>
          <a:lstStyle/>
          <a:p>
            <a:pPr algn="l">
              <a:lnSpc>
                <a:spcPct val="113000"/>
              </a:lnSpc>
              <a:spcBef>
                <a:spcPts val="0"/>
              </a:spcBef>
              <a:spcAft>
                <a:spcPts val="600"/>
              </a:spcAft>
            </a:pPr>
            <a:r>
              <a:rPr sz="1400" b="0">
                <a:solidFill>
                  <a:srgbClr val="5A6473"/>
                </a:solidFill>
                <a:latin typeface="Calibri"/>
              </a:rPr>
              <a:t>Washed out by re-compression, resizing and blur.</a:t>
            </a:r>
          </a:p>
        </p:txBody>
      </p:sp>
      <p:sp>
        <p:nvSpPr>
          <p:cNvPr id="27" name="TextBox 26"/>
          <p:cNvSpPr txBox="1"/>
          <p:nvPr/>
        </p:nvSpPr>
        <p:spPr>
          <a:xfrm>
            <a:off x="640080" y="5349240"/>
            <a:ext cx="10972800" cy="640080"/>
          </a:xfrm>
          <a:prstGeom prst="rect">
            <a:avLst/>
          </a:prstGeom>
          <a:noFill/>
        </p:spPr>
        <p:txBody>
          <a:bodyPr wrap="square" anchor="t" lIns="0" rIns="0" tIns="0" bIns="0">
            <a:spAutoFit/>
          </a:bodyPr>
          <a:lstStyle/>
          <a:p>
            <a:pPr algn="l">
              <a:lnSpc>
                <a:spcPct val="105000"/>
              </a:lnSpc>
              <a:spcBef>
                <a:spcPts val="0"/>
              </a:spcBef>
              <a:spcAft>
                <a:spcPts val="600"/>
              </a:spcAft>
            </a:pPr>
            <a:r>
              <a:rPr sz="1700" b="1">
                <a:solidFill>
                  <a:srgbClr val="1A2238"/>
                </a:solidFill>
                <a:latin typeface="Calibri"/>
              </a:rPr>
              <a:t>The defenses people reach for first all fail on the journey a leaked image actually takes.</a:t>
            </a:r>
          </a:p>
        </p:txBody>
      </p:sp>
      <p:sp>
        <p:nvSpPr>
          <p:cNvPr id="28" name="TextBox 27"/>
          <p:cNvSpPr txBox="1"/>
          <p:nvPr/>
        </p:nvSpPr>
        <p:spPr>
          <a:xfrm>
            <a:off x="640080" y="6455664"/>
            <a:ext cx="4572000" cy="274320"/>
          </a:xfrm>
          <a:prstGeom prst="rect">
            <a:avLst/>
          </a:prstGeom>
          <a:noFill/>
        </p:spPr>
        <p:txBody>
          <a:bodyPr wrap="square" anchor="t" lIns="0" rIns="0" tIns="0" bIns="0">
            <a:spAutoFit/>
          </a:bodyPr>
          <a:lstStyle/>
          <a:p>
            <a:pPr algn="l">
              <a:lnSpc>
                <a:spcPct val="105000"/>
              </a:lnSpc>
              <a:spcBef>
                <a:spcPts val="0"/>
              </a:spcBef>
              <a:spcAft>
                <a:spcPts val="600"/>
              </a:spcAft>
            </a:pPr>
            <a:r>
              <a:rPr sz="1000" b="1">
                <a:solidFill>
                  <a:srgbClr val="5A6473"/>
                </a:solidFill>
                <a:latin typeface="Calibri"/>
              </a:rPr>
              <a:t>Invisign</a:t>
            </a:r>
            <a:r>
              <a:rPr sz="1000" b="0">
                <a:solidFill>
                  <a:srgbClr val="5A6473"/>
                </a:solidFill>
                <a:latin typeface="Calibri"/>
              </a:rPr>
              <a:t>  ·  Capstone defense</a:t>
            </a:r>
          </a:p>
        </p:txBody>
      </p:sp>
      <p:sp>
        <p:nvSpPr>
          <p:cNvPr id="29" name="TextBox 28"/>
          <p:cNvSpPr txBox="1"/>
          <p:nvPr/>
        </p:nvSpPr>
        <p:spPr>
          <a:xfrm>
            <a:off x="10881360" y="6455664"/>
            <a:ext cx="91440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a:solidFill>
                  <a:srgbClr val="5A6473"/>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566928"/>
            <a:ext cx="502920" cy="82296"/>
          </a:xfrm>
          <a:prstGeom prst="rect">
            <a:avLst/>
          </a:prstGeom>
          <a:solidFill>
            <a:srgbClr val="1FA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0160" y="411480"/>
            <a:ext cx="9144000" cy="365760"/>
          </a:xfrm>
          <a:prstGeom prst="rect">
            <a:avLst/>
          </a:prstGeom>
          <a:noFill/>
        </p:spPr>
        <p:txBody>
          <a:bodyPr wrap="square" anchor="t" lIns="0" rIns="0" tIns="0" bIns="0">
            <a:spAutoFit/>
          </a:bodyPr>
          <a:lstStyle/>
          <a:p>
            <a:pPr algn="l">
              <a:lnSpc>
                <a:spcPct val="105000"/>
              </a:lnSpc>
              <a:spcBef>
                <a:spcPts val="0"/>
              </a:spcBef>
              <a:spcAft>
                <a:spcPts val="600"/>
              </a:spcAft>
            </a:pPr>
            <a:r>
              <a:rPr sz="1400" b="1">
                <a:solidFill>
                  <a:srgbClr val="1FA97D"/>
                </a:solidFill>
                <a:latin typeface="Calibri"/>
              </a:rPr>
              <a:t>THE IDEA</a:t>
            </a:r>
          </a:p>
        </p:txBody>
      </p:sp>
      <p:sp>
        <p:nvSpPr>
          <p:cNvPr id="4" name="TextBox 3"/>
          <p:cNvSpPr txBox="1"/>
          <p:nvPr/>
        </p:nvSpPr>
        <p:spPr>
          <a:xfrm>
            <a:off x="640080" y="841248"/>
            <a:ext cx="10972800" cy="914400"/>
          </a:xfrm>
          <a:prstGeom prst="rect">
            <a:avLst/>
          </a:prstGeom>
          <a:noFill/>
        </p:spPr>
        <p:txBody>
          <a:bodyPr wrap="square" anchor="t" lIns="0" rIns="0" tIns="0" bIns="0">
            <a:spAutoFit/>
          </a:bodyPr>
          <a:lstStyle/>
          <a:p>
            <a:pPr algn="l">
              <a:lnSpc>
                <a:spcPct val="100000"/>
              </a:lnSpc>
              <a:spcBef>
                <a:spcPts val="0"/>
              </a:spcBef>
              <a:spcAft>
                <a:spcPts val="600"/>
              </a:spcAft>
            </a:pPr>
            <a:r>
              <a:rPr sz="3000" b="1">
                <a:solidFill>
                  <a:srgbClr val="1A2238"/>
                </a:solidFill>
                <a:latin typeface="Calibri"/>
              </a:rPr>
              <a:t>An invisible mark, woven into the image itself</a:t>
            </a:r>
          </a:p>
        </p:txBody>
      </p:sp>
      <p:sp>
        <p:nvSpPr>
          <p:cNvPr id="5" name="TextBox 4"/>
          <p:cNvSpPr txBox="1"/>
          <p:nvPr/>
        </p:nvSpPr>
        <p:spPr>
          <a:xfrm>
            <a:off x="640080" y="1783080"/>
            <a:ext cx="5669280" cy="3657600"/>
          </a:xfrm>
          <a:prstGeom prst="rect">
            <a:avLst/>
          </a:prstGeom>
          <a:noFill/>
        </p:spPr>
        <p:txBody>
          <a:bodyPr wrap="square" lIns="0" rIns="0" tIns="0" bIns="0">
            <a:spAutoFit/>
          </a:bodyPr>
          <a:lstStyle/>
          <a:p>
            <a:pPr>
              <a:lnSpc>
                <a:spcPct val="107000"/>
              </a:lnSpc>
              <a:spcBef>
                <a:spcPts val="0"/>
              </a:spcBef>
              <a:spcAft>
                <a:spcPts val="1600"/>
              </a:spcAft>
            </a:pPr>
            <a:r>
              <a:rPr sz="1800" b="1">
                <a:solidFill>
                  <a:srgbClr val="1FA97D"/>
                </a:solidFill>
                <a:latin typeface="Calibri"/>
              </a:rPr>
              <a:t>▪  </a:t>
            </a:r>
            <a:r>
              <a:rPr sz="1800" b="1">
                <a:solidFill>
                  <a:srgbClr val="1A2238"/>
                </a:solidFill>
                <a:latin typeface="Calibri"/>
              </a:rPr>
              <a:t>Invisible. </a:t>
            </a:r>
            <a:r>
              <a:rPr sz="1800">
                <a:solidFill>
                  <a:srgbClr val="1A2238"/>
                </a:solidFill>
                <a:latin typeface="Calibri"/>
              </a:rPr>
              <a:t>Embedded in the image's underlying structure, not painted on top — the eye can't see it (~50 dB).</a:t>
            </a:r>
          </a:p>
          <a:p>
            <a:pPr>
              <a:lnSpc>
                <a:spcPct val="107000"/>
              </a:lnSpc>
              <a:spcBef>
                <a:spcPts val="0"/>
              </a:spcBef>
              <a:spcAft>
                <a:spcPts val="1600"/>
              </a:spcAft>
            </a:pPr>
            <a:r>
              <a:rPr sz="1800" b="1">
                <a:solidFill>
                  <a:srgbClr val="1FA97D"/>
                </a:solidFill>
                <a:latin typeface="Calibri"/>
              </a:rPr>
              <a:t>▪  </a:t>
            </a:r>
            <a:r>
              <a:rPr sz="1800" b="1">
                <a:solidFill>
                  <a:srgbClr val="1A2238"/>
                </a:solidFill>
                <a:latin typeface="Calibri"/>
              </a:rPr>
              <a:t>Recoverable. </a:t>
            </a:r>
            <a:r>
              <a:rPr sz="1800">
                <a:solidFill>
                  <a:srgbClr val="1A2238"/>
                </a:solidFill>
                <a:latin typeface="Calibri"/>
              </a:rPr>
              <a:t>The owner can extract the hidden mark back out and confirm it is there.</a:t>
            </a:r>
          </a:p>
          <a:p>
            <a:pPr>
              <a:lnSpc>
                <a:spcPct val="107000"/>
              </a:lnSpc>
              <a:spcBef>
                <a:spcPts val="0"/>
              </a:spcBef>
              <a:spcAft>
                <a:spcPts val="1600"/>
              </a:spcAft>
            </a:pPr>
            <a:r>
              <a:rPr sz="1800" b="1">
                <a:solidFill>
                  <a:srgbClr val="1FA97D"/>
                </a:solidFill>
                <a:latin typeface="Calibri"/>
              </a:rPr>
              <a:t>▪  </a:t>
            </a:r>
            <a:r>
              <a:rPr sz="1800" b="1">
                <a:solidFill>
                  <a:srgbClr val="1A2238"/>
                </a:solidFill>
                <a:latin typeface="Calibri"/>
              </a:rPr>
              <a:t>Survives real edits. </a:t>
            </a:r>
            <a:r>
              <a:rPr sz="1800">
                <a:solidFill>
                  <a:srgbClr val="1A2238"/>
                </a:solidFill>
                <a:latin typeface="Calibri"/>
              </a:rPr>
              <a:t>Holds up through re-compression, resizing and blur — the rough handling a leaked file gets online.</a:t>
            </a:r>
          </a:p>
          <a:p>
            <a:pPr>
              <a:lnSpc>
                <a:spcPct val="107000"/>
              </a:lnSpc>
              <a:spcBef>
                <a:spcPts val="0"/>
              </a:spcBef>
              <a:spcAft>
                <a:spcPts val="1600"/>
              </a:spcAft>
            </a:pPr>
            <a:r>
              <a:rPr sz="1800" b="1">
                <a:solidFill>
                  <a:srgbClr val="1FA97D"/>
                </a:solidFill>
                <a:latin typeface="Calibri"/>
              </a:rPr>
              <a:t>▪  </a:t>
            </a:r>
            <a:r>
              <a:rPr sz="1800" b="1">
                <a:solidFill>
                  <a:srgbClr val="1A2238"/>
                </a:solidFill>
                <a:latin typeface="Calibri"/>
              </a:rPr>
              <a:t>Per-recipient. </a:t>
            </a:r>
            <a:r>
              <a:rPr sz="1800">
                <a:solidFill>
                  <a:srgbClr val="1A2238"/>
                </a:solidFill>
                <a:latin typeface="Calibri"/>
              </a:rPr>
              <a:t>A different mark in every copy, so a leak points straight to its source.</a:t>
            </a:r>
          </a:p>
        </p:txBody>
      </p:sp>
      <p:pic>
        <p:nvPicPr>
          <p:cNvPr id="6" name="Picture 5" descr="cover.png"/>
          <p:cNvPicPr>
            <a:picLocks noChangeAspect="1"/>
          </p:cNvPicPr>
          <p:nvPr/>
        </p:nvPicPr>
        <p:blipFill>
          <a:blip r:embed="rId2"/>
          <a:stretch>
            <a:fillRect/>
          </a:stretch>
        </p:blipFill>
        <p:spPr>
          <a:xfrm>
            <a:off x="6858000" y="2011680"/>
            <a:ext cx="2331720" cy="2331720"/>
          </a:xfrm>
          <a:prstGeom prst="rect">
            <a:avLst/>
          </a:prstGeom>
          <a:ln w="15875">
            <a:solidFill>
              <a:srgbClr val="D0D5DD"/>
            </a:solidFill>
          </a:ln>
        </p:spPr>
      </p:pic>
      <p:sp>
        <p:nvSpPr>
          <p:cNvPr id="7" name="TextBox 6"/>
          <p:cNvSpPr txBox="1"/>
          <p:nvPr/>
        </p:nvSpPr>
        <p:spPr>
          <a:xfrm>
            <a:off x="6858000" y="4434840"/>
            <a:ext cx="2331720" cy="640080"/>
          </a:xfrm>
          <a:prstGeom prst="rect">
            <a:avLst/>
          </a:prstGeom>
          <a:noFill/>
        </p:spPr>
        <p:txBody>
          <a:bodyPr wrap="square" anchor="t" lIns="0" rIns="0" tIns="0" bIns="0">
            <a:spAutoFit/>
          </a:bodyPr>
          <a:lstStyle/>
          <a:p>
            <a:pPr algn="ctr">
              <a:lnSpc>
                <a:spcPct val="112000"/>
              </a:lnSpc>
              <a:spcBef>
                <a:spcPts val="0"/>
              </a:spcBef>
              <a:spcAft>
                <a:spcPts val="600"/>
              </a:spcAft>
            </a:pPr>
            <a:r>
              <a:rPr sz="1200" b="0">
                <a:solidFill>
                  <a:srgbClr val="5A6473"/>
                </a:solidFill>
                <a:latin typeface="Calibri"/>
              </a:rPr>
              <a:t>Original</a:t>
            </a:r>
          </a:p>
        </p:txBody>
      </p:sp>
      <p:sp>
        <p:nvSpPr>
          <p:cNvPr id="8" name="TextBox 7"/>
          <p:cNvSpPr txBox="1"/>
          <p:nvPr/>
        </p:nvSpPr>
        <p:spPr>
          <a:xfrm>
            <a:off x="9189720" y="2743200"/>
            <a:ext cx="640080" cy="731520"/>
          </a:xfrm>
          <a:prstGeom prst="rect">
            <a:avLst/>
          </a:prstGeom>
          <a:noFill/>
        </p:spPr>
        <p:txBody>
          <a:bodyPr wrap="square" anchor="t" lIns="0" rIns="0" tIns="0" bIns="0">
            <a:spAutoFit/>
          </a:bodyPr>
          <a:lstStyle/>
          <a:p>
            <a:pPr algn="ctr">
              <a:lnSpc>
                <a:spcPct val="105000"/>
              </a:lnSpc>
              <a:spcBef>
                <a:spcPts val="0"/>
              </a:spcBef>
              <a:spcAft>
                <a:spcPts val="600"/>
              </a:spcAft>
            </a:pPr>
            <a:r>
              <a:rPr sz="4000" b="1">
                <a:solidFill>
                  <a:srgbClr val="1FA97D"/>
                </a:solidFill>
                <a:latin typeface="Calibri"/>
              </a:rPr>
              <a:t>→</a:t>
            </a:r>
          </a:p>
        </p:txBody>
      </p:sp>
      <p:pic>
        <p:nvPicPr>
          <p:cNvPr id="9" name="Picture 8" descr="marked_001.png"/>
          <p:cNvPicPr>
            <a:picLocks noChangeAspect="1"/>
          </p:cNvPicPr>
          <p:nvPr/>
        </p:nvPicPr>
        <p:blipFill>
          <a:blip r:embed="rId3"/>
          <a:stretch>
            <a:fillRect/>
          </a:stretch>
        </p:blipFill>
        <p:spPr>
          <a:xfrm>
            <a:off x="9646920" y="2011680"/>
            <a:ext cx="2331720" cy="2331720"/>
          </a:xfrm>
          <a:prstGeom prst="rect">
            <a:avLst/>
          </a:prstGeom>
          <a:ln w="15875">
            <a:solidFill>
              <a:srgbClr val="D0D5DD"/>
            </a:solidFill>
          </a:ln>
        </p:spPr>
      </p:pic>
      <p:sp>
        <p:nvSpPr>
          <p:cNvPr id="10" name="TextBox 9"/>
          <p:cNvSpPr txBox="1"/>
          <p:nvPr/>
        </p:nvSpPr>
        <p:spPr>
          <a:xfrm>
            <a:off x="9646920" y="4434840"/>
            <a:ext cx="2331720" cy="640080"/>
          </a:xfrm>
          <a:prstGeom prst="rect">
            <a:avLst/>
          </a:prstGeom>
          <a:noFill/>
        </p:spPr>
        <p:txBody>
          <a:bodyPr wrap="square" anchor="t" lIns="0" rIns="0" tIns="0" bIns="0">
            <a:spAutoFit/>
          </a:bodyPr>
          <a:lstStyle/>
          <a:p>
            <a:pPr algn="ctr">
              <a:lnSpc>
                <a:spcPct val="112000"/>
              </a:lnSpc>
              <a:spcBef>
                <a:spcPts val="0"/>
              </a:spcBef>
              <a:spcAft>
                <a:spcPts val="600"/>
              </a:spcAft>
            </a:pPr>
            <a:r>
              <a:rPr sz="1200" b="0">
                <a:solidFill>
                  <a:srgbClr val="5A6473"/>
                </a:solidFill>
                <a:latin typeface="Calibri"/>
              </a:rPr>
              <a:t>Marked — looks identical</a:t>
            </a:r>
          </a:p>
        </p:txBody>
      </p:sp>
      <p:sp>
        <p:nvSpPr>
          <p:cNvPr id="11" name="TextBox 10"/>
          <p:cNvSpPr txBox="1"/>
          <p:nvPr/>
        </p:nvSpPr>
        <p:spPr>
          <a:xfrm>
            <a:off x="6858000" y="4892040"/>
            <a:ext cx="5120640" cy="640080"/>
          </a:xfrm>
          <a:prstGeom prst="rect">
            <a:avLst/>
          </a:prstGeom>
          <a:noFill/>
        </p:spPr>
        <p:txBody>
          <a:bodyPr wrap="square" anchor="t" lIns="0" rIns="0" tIns="0" bIns="0">
            <a:spAutoFit/>
          </a:bodyPr>
          <a:lstStyle/>
          <a:p>
            <a:pPr algn="ctr">
              <a:lnSpc>
                <a:spcPct val="112000"/>
              </a:lnSpc>
              <a:spcBef>
                <a:spcPts val="0"/>
              </a:spcBef>
              <a:spcAft>
                <a:spcPts val="600"/>
              </a:spcAft>
            </a:pPr>
            <a:r>
              <a:rPr sz="1300" b="0">
                <a:solidFill>
                  <a:srgbClr val="5A6473"/>
                </a:solidFill>
                <a:latin typeface="Calibri"/>
              </a:rPr>
              <a:t>Same picture to any viewer. A unique invisible signature now lives inside the one on the right.</a:t>
            </a:r>
          </a:p>
        </p:txBody>
      </p:sp>
      <p:sp>
        <p:nvSpPr>
          <p:cNvPr id="12" name="TextBox 11"/>
          <p:cNvSpPr txBox="1"/>
          <p:nvPr/>
        </p:nvSpPr>
        <p:spPr>
          <a:xfrm>
            <a:off x="640080" y="6455664"/>
            <a:ext cx="4572000" cy="274320"/>
          </a:xfrm>
          <a:prstGeom prst="rect">
            <a:avLst/>
          </a:prstGeom>
          <a:noFill/>
        </p:spPr>
        <p:txBody>
          <a:bodyPr wrap="square" anchor="t" lIns="0" rIns="0" tIns="0" bIns="0">
            <a:spAutoFit/>
          </a:bodyPr>
          <a:lstStyle/>
          <a:p>
            <a:pPr algn="l">
              <a:lnSpc>
                <a:spcPct val="105000"/>
              </a:lnSpc>
              <a:spcBef>
                <a:spcPts val="0"/>
              </a:spcBef>
              <a:spcAft>
                <a:spcPts val="600"/>
              </a:spcAft>
            </a:pPr>
            <a:r>
              <a:rPr sz="1000" b="1">
                <a:solidFill>
                  <a:srgbClr val="5A6473"/>
                </a:solidFill>
                <a:latin typeface="Calibri"/>
              </a:rPr>
              <a:t>Invisign</a:t>
            </a:r>
            <a:r>
              <a:rPr sz="1000" b="0">
                <a:solidFill>
                  <a:srgbClr val="5A6473"/>
                </a:solidFill>
                <a:latin typeface="Calibri"/>
              </a:rPr>
              <a:t>  ·  Capstone defense</a:t>
            </a:r>
          </a:p>
        </p:txBody>
      </p:sp>
      <p:sp>
        <p:nvSpPr>
          <p:cNvPr id="13" name="TextBox 12"/>
          <p:cNvSpPr txBox="1"/>
          <p:nvPr/>
        </p:nvSpPr>
        <p:spPr>
          <a:xfrm>
            <a:off x="10881360" y="6455664"/>
            <a:ext cx="91440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a:solidFill>
                  <a:srgbClr val="5A6473"/>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566928"/>
            <a:ext cx="502920" cy="82296"/>
          </a:xfrm>
          <a:prstGeom prst="rect">
            <a:avLst/>
          </a:prstGeom>
          <a:solidFill>
            <a:srgbClr val="1FA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0160" y="411480"/>
            <a:ext cx="9144000" cy="365760"/>
          </a:xfrm>
          <a:prstGeom prst="rect">
            <a:avLst/>
          </a:prstGeom>
          <a:noFill/>
        </p:spPr>
        <p:txBody>
          <a:bodyPr wrap="square" anchor="t" lIns="0" rIns="0" tIns="0" bIns="0">
            <a:spAutoFit/>
          </a:bodyPr>
          <a:lstStyle/>
          <a:p>
            <a:pPr algn="l">
              <a:lnSpc>
                <a:spcPct val="105000"/>
              </a:lnSpc>
              <a:spcBef>
                <a:spcPts val="0"/>
              </a:spcBef>
              <a:spcAft>
                <a:spcPts val="600"/>
              </a:spcAft>
            </a:pPr>
            <a:r>
              <a:rPr sz="1400" b="1">
                <a:solidFill>
                  <a:srgbClr val="1FA97D"/>
                </a:solidFill>
                <a:latin typeface="Calibri"/>
              </a:rPr>
              <a:t>WHO IT'S FOR</a:t>
            </a:r>
          </a:p>
        </p:txBody>
      </p:sp>
      <p:sp>
        <p:nvSpPr>
          <p:cNvPr id="4" name="TextBox 3"/>
          <p:cNvSpPr txBox="1"/>
          <p:nvPr/>
        </p:nvSpPr>
        <p:spPr>
          <a:xfrm>
            <a:off x="640080" y="841248"/>
            <a:ext cx="10972800" cy="914400"/>
          </a:xfrm>
          <a:prstGeom prst="rect">
            <a:avLst/>
          </a:prstGeom>
          <a:noFill/>
        </p:spPr>
        <p:txBody>
          <a:bodyPr wrap="square" anchor="t" lIns="0" rIns="0" tIns="0" bIns="0">
            <a:spAutoFit/>
          </a:bodyPr>
          <a:lstStyle/>
          <a:p>
            <a:pPr algn="l">
              <a:lnSpc>
                <a:spcPct val="100000"/>
              </a:lnSpc>
              <a:spcBef>
                <a:spcPts val="0"/>
              </a:spcBef>
              <a:spcAft>
                <a:spcPts val="600"/>
              </a:spcAft>
            </a:pPr>
            <a:r>
              <a:rPr sz="3000" b="1">
                <a:solidFill>
                  <a:srgbClr val="1A2238"/>
                </a:solidFill>
                <a:latin typeface="Calibri"/>
              </a:rPr>
              <a:t>Built for owners who hold the master copy</a:t>
            </a:r>
          </a:p>
        </p:txBody>
      </p:sp>
      <p:sp>
        <p:nvSpPr>
          <p:cNvPr id="5" name="TextBox 4"/>
          <p:cNvSpPr txBox="1"/>
          <p:nvPr/>
        </p:nvSpPr>
        <p:spPr>
          <a:xfrm>
            <a:off x="640080" y="1600200"/>
            <a:ext cx="10972800" cy="640080"/>
          </a:xfrm>
          <a:prstGeom prst="rect">
            <a:avLst/>
          </a:prstGeom>
          <a:noFill/>
        </p:spPr>
        <p:txBody>
          <a:bodyPr wrap="square" anchor="t" lIns="0" rIns="0" tIns="0" bIns="0">
            <a:spAutoFit/>
          </a:bodyPr>
          <a:lstStyle/>
          <a:p>
            <a:pPr algn="l">
              <a:lnSpc>
                <a:spcPct val="115000"/>
              </a:lnSpc>
              <a:spcBef>
                <a:spcPts val="0"/>
              </a:spcBef>
              <a:spcAft>
                <a:spcPts val="600"/>
              </a:spcAft>
            </a:pPr>
            <a:r>
              <a:rPr sz="1800" b="0">
                <a:solidFill>
                  <a:srgbClr val="5A6473"/>
                </a:solidFill>
                <a:latin typeface="Calibri"/>
              </a:rPr>
              <a:t>Give every recipient a copy with a different hidden mark. When one leaks, match it back to the recipient.</a:t>
            </a:r>
          </a:p>
        </p:txBody>
      </p:sp>
      <p:sp>
        <p:nvSpPr>
          <p:cNvPr id="6" name="Rounded Rectangle 5"/>
          <p:cNvSpPr/>
          <p:nvPr/>
        </p:nvSpPr>
        <p:spPr>
          <a:xfrm>
            <a:off x="640080" y="2542032"/>
            <a:ext cx="3511296" cy="2286000"/>
          </a:xfrm>
          <a:prstGeom prst="roundRect">
            <a:avLst>
              <a:gd name="adj" fmla="val 7000"/>
            </a:avLst>
          </a:prstGeom>
          <a:solidFill>
            <a:srgbClr val="F5F7FA"/>
          </a:solidFill>
          <a:ln>
            <a:noFill/>
          </a:ln>
          <a:effectLst/>
          <a:effectLst>
            <a:outerShdw blurRad="80000" dist="30000" dir="5400000" rotWithShape="0">
              <a:srgbClr val="1A2238">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50976" y="2798064"/>
            <a:ext cx="749808" cy="749808"/>
          </a:xfrm>
          <a:prstGeom prst="ellipse">
            <a:avLst/>
          </a:prstGeom>
          <a:solidFill>
            <a:srgbClr val="DB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130929" y="3030504"/>
            <a:ext cx="389900" cy="284927"/>
          </a:xfrm>
          <a:prstGeom prst="roundRect">
            <a:avLst/>
          </a:prstGeom>
          <a:solidFill>
            <a:srgbClr val="1FA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rot="5400000">
            <a:off x="1273393" y="3105485"/>
            <a:ext cx="119969" cy="134965"/>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3694176"/>
            <a:ext cx="2880360" cy="457200"/>
          </a:xfrm>
          <a:prstGeom prst="rect">
            <a:avLst/>
          </a:prstGeom>
          <a:noFill/>
        </p:spPr>
        <p:txBody>
          <a:bodyPr wrap="square" anchor="t" lIns="0" rIns="0" tIns="0" bIns="0">
            <a:spAutoFit/>
          </a:bodyPr>
          <a:lstStyle/>
          <a:p>
            <a:pPr algn="l">
              <a:lnSpc>
                <a:spcPct val="105000"/>
              </a:lnSpc>
              <a:spcBef>
                <a:spcPts val="0"/>
              </a:spcBef>
              <a:spcAft>
                <a:spcPts val="600"/>
              </a:spcAft>
            </a:pPr>
            <a:r>
              <a:rPr sz="1800" b="1">
                <a:solidFill>
                  <a:srgbClr val="1A2238"/>
                </a:solidFill>
                <a:latin typeface="Calibri"/>
              </a:rPr>
              <a:t>Film studios</a:t>
            </a:r>
          </a:p>
        </p:txBody>
      </p:sp>
      <p:sp>
        <p:nvSpPr>
          <p:cNvPr id="11" name="TextBox 10"/>
          <p:cNvSpPr txBox="1"/>
          <p:nvPr/>
        </p:nvSpPr>
        <p:spPr>
          <a:xfrm>
            <a:off x="969264" y="4114800"/>
            <a:ext cx="2880360" cy="731520"/>
          </a:xfrm>
          <a:prstGeom prst="rect">
            <a:avLst/>
          </a:prstGeom>
          <a:noFill/>
        </p:spPr>
        <p:txBody>
          <a:bodyPr wrap="square" anchor="t" lIns="0" rIns="0" tIns="0" bIns="0">
            <a:spAutoFit/>
          </a:bodyPr>
          <a:lstStyle/>
          <a:p>
            <a:pPr algn="l">
              <a:lnSpc>
                <a:spcPct val="113000"/>
              </a:lnSpc>
              <a:spcBef>
                <a:spcPts val="0"/>
              </a:spcBef>
              <a:spcAft>
                <a:spcPts val="600"/>
              </a:spcAft>
            </a:pPr>
            <a:r>
              <a:rPr sz="1400" b="0">
                <a:solidFill>
                  <a:srgbClr val="5A6473"/>
                </a:solidFill>
                <a:latin typeface="Calibri"/>
              </a:rPr>
              <a:t>A different copy to each cinema — trace a pirated screening to its source.</a:t>
            </a:r>
          </a:p>
        </p:txBody>
      </p:sp>
      <p:sp>
        <p:nvSpPr>
          <p:cNvPr id="12" name="Rounded Rectangle 11"/>
          <p:cNvSpPr/>
          <p:nvPr/>
        </p:nvSpPr>
        <p:spPr>
          <a:xfrm>
            <a:off x="4357116" y="2542032"/>
            <a:ext cx="3511296" cy="2286000"/>
          </a:xfrm>
          <a:prstGeom prst="roundRect">
            <a:avLst>
              <a:gd name="adj" fmla="val 7000"/>
            </a:avLst>
          </a:prstGeom>
          <a:solidFill>
            <a:srgbClr val="F5F7FA"/>
          </a:solidFill>
          <a:ln>
            <a:noFill/>
          </a:ln>
          <a:effectLst/>
          <a:effectLst>
            <a:outerShdw blurRad="80000" dist="30000" dir="5400000" rotWithShape="0">
              <a:srgbClr val="1A2238">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8012" y="2798064"/>
            <a:ext cx="749808" cy="749808"/>
          </a:xfrm>
          <a:prstGeom prst="ellipse">
            <a:avLst/>
          </a:prstGeom>
          <a:solidFill>
            <a:srgbClr val="DDE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847965" y="3023006"/>
            <a:ext cx="389900" cy="299923"/>
          </a:xfrm>
          <a:prstGeom prst="round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922946" y="3082991"/>
            <a:ext cx="74980" cy="749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4967935" y="3157971"/>
            <a:ext cx="254934" cy="149961"/>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6300" y="3694176"/>
            <a:ext cx="2880360" cy="457200"/>
          </a:xfrm>
          <a:prstGeom prst="rect">
            <a:avLst/>
          </a:prstGeom>
          <a:noFill/>
        </p:spPr>
        <p:txBody>
          <a:bodyPr wrap="square" anchor="t" lIns="0" rIns="0" tIns="0" bIns="0">
            <a:spAutoFit/>
          </a:bodyPr>
          <a:lstStyle/>
          <a:p>
            <a:pPr algn="l">
              <a:lnSpc>
                <a:spcPct val="105000"/>
              </a:lnSpc>
              <a:spcBef>
                <a:spcPts val="0"/>
              </a:spcBef>
              <a:spcAft>
                <a:spcPts val="600"/>
              </a:spcAft>
            </a:pPr>
            <a:r>
              <a:rPr sz="1800" b="1">
                <a:solidFill>
                  <a:srgbClr val="1A2238"/>
                </a:solidFill>
                <a:latin typeface="Calibri"/>
              </a:rPr>
              <a:t>Press &amp; stock agencies</a:t>
            </a:r>
          </a:p>
        </p:txBody>
      </p:sp>
      <p:sp>
        <p:nvSpPr>
          <p:cNvPr id="18" name="TextBox 17"/>
          <p:cNvSpPr txBox="1"/>
          <p:nvPr/>
        </p:nvSpPr>
        <p:spPr>
          <a:xfrm>
            <a:off x="4686300" y="4114800"/>
            <a:ext cx="2880360" cy="731520"/>
          </a:xfrm>
          <a:prstGeom prst="rect">
            <a:avLst/>
          </a:prstGeom>
          <a:noFill/>
        </p:spPr>
        <p:txBody>
          <a:bodyPr wrap="square" anchor="t" lIns="0" rIns="0" tIns="0" bIns="0">
            <a:spAutoFit/>
          </a:bodyPr>
          <a:lstStyle/>
          <a:p>
            <a:pPr algn="l">
              <a:lnSpc>
                <a:spcPct val="113000"/>
              </a:lnSpc>
              <a:spcBef>
                <a:spcPts val="0"/>
              </a:spcBef>
              <a:spcAft>
                <a:spcPts val="600"/>
              </a:spcAft>
            </a:pPr>
            <a:r>
              <a:rPr sz="1400" b="0">
                <a:solidFill>
                  <a:srgbClr val="5A6473"/>
                </a:solidFill>
                <a:latin typeface="Calibri"/>
              </a:rPr>
              <a:t>A per-licensee copy — find who re-distributed a licensed image.</a:t>
            </a:r>
          </a:p>
        </p:txBody>
      </p:sp>
      <p:sp>
        <p:nvSpPr>
          <p:cNvPr id="19" name="Rounded Rectangle 18"/>
          <p:cNvSpPr/>
          <p:nvPr/>
        </p:nvSpPr>
        <p:spPr>
          <a:xfrm>
            <a:off x="8074152" y="2542032"/>
            <a:ext cx="3511296" cy="2286000"/>
          </a:xfrm>
          <a:prstGeom prst="roundRect">
            <a:avLst>
              <a:gd name="adj" fmla="val 7000"/>
            </a:avLst>
          </a:prstGeom>
          <a:solidFill>
            <a:srgbClr val="F5F7FA"/>
          </a:solidFill>
          <a:ln>
            <a:noFill/>
          </a:ln>
          <a:effectLst/>
          <a:effectLst>
            <a:outerShdw blurRad="80000" dist="30000" dir="5400000" rotWithShape="0">
              <a:srgbClr val="1A2238">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385048" y="2798064"/>
            <a:ext cx="749808" cy="749808"/>
          </a:xfrm>
          <a:prstGeom prst="ellipse">
            <a:avLst/>
          </a:prstGeom>
          <a:solidFill>
            <a:srgbClr val="DAD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loud 20"/>
          <p:cNvSpPr/>
          <p:nvPr/>
        </p:nvSpPr>
        <p:spPr>
          <a:xfrm>
            <a:off x="8535009" y="3023006"/>
            <a:ext cx="449884" cy="299923"/>
          </a:xfrm>
          <a:prstGeom prst="cloud">
            <a:avLst/>
          </a:prstGeom>
          <a:solidFill>
            <a:srgbClr val="1A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03336" y="3694176"/>
            <a:ext cx="2880360" cy="457200"/>
          </a:xfrm>
          <a:prstGeom prst="rect">
            <a:avLst/>
          </a:prstGeom>
          <a:noFill/>
        </p:spPr>
        <p:txBody>
          <a:bodyPr wrap="square" anchor="t" lIns="0" rIns="0" tIns="0" bIns="0">
            <a:spAutoFit/>
          </a:bodyPr>
          <a:lstStyle/>
          <a:p>
            <a:pPr algn="l">
              <a:lnSpc>
                <a:spcPct val="105000"/>
              </a:lnSpc>
              <a:spcBef>
                <a:spcPts val="0"/>
              </a:spcBef>
              <a:spcAft>
                <a:spcPts val="600"/>
              </a:spcAft>
            </a:pPr>
            <a:r>
              <a:rPr sz="1800" b="1">
                <a:solidFill>
                  <a:srgbClr val="1A2238"/>
                </a:solidFill>
                <a:latin typeface="Calibri"/>
              </a:rPr>
              <a:t>Content platforms</a:t>
            </a:r>
          </a:p>
        </p:txBody>
      </p:sp>
      <p:sp>
        <p:nvSpPr>
          <p:cNvPr id="23" name="TextBox 22"/>
          <p:cNvSpPr txBox="1"/>
          <p:nvPr/>
        </p:nvSpPr>
        <p:spPr>
          <a:xfrm>
            <a:off x="8403336" y="4114800"/>
            <a:ext cx="2880360" cy="731520"/>
          </a:xfrm>
          <a:prstGeom prst="rect">
            <a:avLst/>
          </a:prstGeom>
          <a:noFill/>
        </p:spPr>
        <p:txBody>
          <a:bodyPr wrap="square" anchor="t" lIns="0" rIns="0" tIns="0" bIns="0">
            <a:spAutoFit/>
          </a:bodyPr>
          <a:lstStyle/>
          <a:p>
            <a:pPr algn="l">
              <a:lnSpc>
                <a:spcPct val="113000"/>
              </a:lnSpc>
              <a:spcBef>
                <a:spcPts val="0"/>
              </a:spcBef>
              <a:spcAft>
                <a:spcPts val="600"/>
              </a:spcAft>
            </a:pPr>
            <a:r>
              <a:rPr sz="1400" b="0">
                <a:solidFill>
                  <a:srgbClr val="5A6473"/>
                </a:solidFill>
                <a:latin typeface="Calibri"/>
              </a:rPr>
              <a:t>A per-partner copy — identify the partner behind a leak.</a:t>
            </a:r>
          </a:p>
        </p:txBody>
      </p:sp>
      <p:sp>
        <p:nvSpPr>
          <p:cNvPr id="24" name="Rounded Rectangle 23"/>
          <p:cNvSpPr/>
          <p:nvPr/>
        </p:nvSpPr>
        <p:spPr>
          <a:xfrm>
            <a:off x="640080" y="5212080"/>
            <a:ext cx="10908792" cy="868680"/>
          </a:xfrm>
          <a:prstGeom prst="roundRect">
            <a:avLst>
              <a:gd name="adj" fmla="val 7000"/>
            </a:avLst>
          </a:prstGeom>
          <a:solidFill>
            <a:srgbClr val="EC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212080"/>
            <a:ext cx="10424160" cy="868680"/>
          </a:xfrm>
          <a:prstGeom prst="rect">
            <a:avLst/>
          </a:prstGeom>
          <a:noFill/>
        </p:spPr>
        <p:txBody>
          <a:bodyPr wrap="square" anchor="ctr" lIns="0" rIns="0" tIns="0" bIns="0">
            <a:spAutoFit/>
          </a:bodyPr>
          <a:lstStyle/>
          <a:p>
            <a:pPr algn="l">
              <a:lnSpc>
                <a:spcPct val="112000"/>
              </a:lnSpc>
              <a:spcBef>
                <a:spcPts val="0"/>
              </a:spcBef>
              <a:spcAft>
                <a:spcPts val="600"/>
              </a:spcAft>
            </a:pPr>
            <a:r>
              <a:rPr sz="1500" b="0">
                <a:solidFill>
                  <a:srgbClr val="1A2238"/>
                </a:solidFill>
                <a:latin typeface="Calibri"/>
              </a:rPr>
              <a:t>Because the owner already holds the original, needing it to extract the mark costs them nothing — it turns leak-tracing into a simple </a:t>
            </a:r>
            <a:r>
              <a:rPr sz="1500" b="1">
                <a:solidFill>
                  <a:srgbClr val="1FA97D"/>
                </a:solidFill>
                <a:latin typeface="Calibri"/>
              </a:rPr>
              <a:t>“which recipient matches best?”</a:t>
            </a:r>
            <a:r>
              <a:rPr sz="1500" b="0">
                <a:solidFill>
                  <a:srgbClr val="1A2238"/>
                </a:solidFill>
                <a:latin typeface="Calibri"/>
              </a:rPr>
              <a:t> comparison.</a:t>
            </a:r>
          </a:p>
        </p:txBody>
      </p:sp>
      <p:sp>
        <p:nvSpPr>
          <p:cNvPr id="26" name="TextBox 25"/>
          <p:cNvSpPr txBox="1"/>
          <p:nvPr/>
        </p:nvSpPr>
        <p:spPr>
          <a:xfrm>
            <a:off x="640080" y="6455664"/>
            <a:ext cx="4572000" cy="274320"/>
          </a:xfrm>
          <a:prstGeom prst="rect">
            <a:avLst/>
          </a:prstGeom>
          <a:noFill/>
        </p:spPr>
        <p:txBody>
          <a:bodyPr wrap="square" anchor="t" lIns="0" rIns="0" tIns="0" bIns="0">
            <a:spAutoFit/>
          </a:bodyPr>
          <a:lstStyle/>
          <a:p>
            <a:pPr algn="l">
              <a:lnSpc>
                <a:spcPct val="105000"/>
              </a:lnSpc>
              <a:spcBef>
                <a:spcPts val="0"/>
              </a:spcBef>
              <a:spcAft>
                <a:spcPts val="600"/>
              </a:spcAft>
            </a:pPr>
            <a:r>
              <a:rPr sz="1000" b="1">
                <a:solidFill>
                  <a:srgbClr val="5A6473"/>
                </a:solidFill>
                <a:latin typeface="Calibri"/>
              </a:rPr>
              <a:t>Invisign</a:t>
            </a:r>
            <a:r>
              <a:rPr sz="1000" b="0">
                <a:solidFill>
                  <a:srgbClr val="5A6473"/>
                </a:solidFill>
                <a:latin typeface="Calibri"/>
              </a:rPr>
              <a:t>  ·  Capstone defense</a:t>
            </a:r>
          </a:p>
        </p:txBody>
      </p:sp>
      <p:sp>
        <p:nvSpPr>
          <p:cNvPr id="27" name="TextBox 26"/>
          <p:cNvSpPr txBox="1"/>
          <p:nvPr/>
        </p:nvSpPr>
        <p:spPr>
          <a:xfrm>
            <a:off x="10881360" y="6455664"/>
            <a:ext cx="91440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a:solidFill>
                  <a:srgbClr val="5A6473"/>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566928"/>
            <a:ext cx="502920"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0160" y="411480"/>
            <a:ext cx="9144000" cy="365760"/>
          </a:xfrm>
          <a:prstGeom prst="rect">
            <a:avLst/>
          </a:prstGeom>
          <a:noFill/>
        </p:spPr>
        <p:txBody>
          <a:bodyPr wrap="square" anchor="t" lIns="0" rIns="0" tIns="0" bIns="0">
            <a:spAutoFit/>
          </a:bodyPr>
          <a:lstStyle/>
          <a:p>
            <a:pPr algn="l">
              <a:lnSpc>
                <a:spcPct val="105000"/>
              </a:lnSpc>
              <a:spcBef>
                <a:spcPts val="0"/>
              </a:spcBef>
              <a:spcAft>
                <a:spcPts val="600"/>
              </a:spcAft>
            </a:pPr>
            <a:r>
              <a:rPr sz="1400" b="1">
                <a:solidFill>
                  <a:srgbClr val="2E86AB"/>
                </a:solidFill>
                <a:latin typeface="Calibri"/>
              </a:rPr>
              <a:t>HOW IT WORKS</a:t>
            </a:r>
          </a:p>
        </p:txBody>
      </p:sp>
      <p:sp>
        <p:nvSpPr>
          <p:cNvPr id="4" name="TextBox 3"/>
          <p:cNvSpPr txBox="1"/>
          <p:nvPr/>
        </p:nvSpPr>
        <p:spPr>
          <a:xfrm>
            <a:off x="640080" y="841248"/>
            <a:ext cx="10972800" cy="914400"/>
          </a:xfrm>
          <a:prstGeom prst="rect">
            <a:avLst/>
          </a:prstGeom>
          <a:noFill/>
        </p:spPr>
        <p:txBody>
          <a:bodyPr wrap="square" anchor="t" lIns="0" rIns="0" tIns="0" bIns="0">
            <a:spAutoFit/>
          </a:bodyPr>
          <a:lstStyle/>
          <a:p>
            <a:pPr algn="l">
              <a:lnSpc>
                <a:spcPct val="100000"/>
              </a:lnSpc>
              <a:spcBef>
                <a:spcPts val="0"/>
              </a:spcBef>
              <a:spcAft>
                <a:spcPts val="600"/>
              </a:spcAft>
            </a:pPr>
            <a:r>
              <a:rPr sz="3000" b="1">
                <a:solidFill>
                  <a:srgbClr val="1A2238"/>
                </a:solidFill>
                <a:latin typeface="Calibri"/>
              </a:rPr>
              <a:t>A tiny nudge to each tile of the image</a:t>
            </a:r>
          </a:p>
        </p:txBody>
      </p:sp>
      <p:sp>
        <p:nvSpPr>
          <p:cNvPr id="5" name="Oval 4"/>
          <p:cNvSpPr/>
          <p:nvPr/>
        </p:nvSpPr>
        <p:spPr>
          <a:xfrm>
            <a:off x="640080" y="1828800"/>
            <a:ext cx="566928" cy="566928"/>
          </a:xfrm>
          <a:prstGeom prst="ellipse">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1</a:t>
            </a:r>
          </a:p>
        </p:txBody>
      </p:sp>
      <p:sp>
        <p:nvSpPr>
          <p:cNvPr id="6" name="TextBox 5"/>
          <p:cNvSpPr txBox="1"/>
          <p:nvPr/>
        </p:nvSpPr>
        <p:spPr>
          <a:xfrm>
            <a:off x="1463040" y="1810512"/>
            <a:ext cx="5029200" cy="457200"/>
          </a:xfrm>
          <a:prstGeom prst="rect">
            <a:avLst/>
          </a:prstGeom>
          <a:noFill/>
        </p:spPr>
        <p:txBody>
          <a:bodyPr wrap="square" anchor="t" lIns="0" rIns="0" tIns="0" bIns="0">
            <a:spAutoFit/>
          </a:bodyPr>
          <a:lstStyle/>
          <a:p>
            <a:pPr algn="l">
              <a:lnSpc>
                <a:spcPct val="105000"/>
              </a:lnSpc>
              <a:spcBef>
                <a:spcPts val="0"/>
              </a:spcBef>
              <a:spcAft>
                <a:spcPts val="600"/>
              </a:spcAft>
            </a:pPr>
            <a:r>
              <a:rPr sz="1900" b="1">
                <a:solidFill>
                  <a:srgbClr val="1A2238"/>
                </a:solidFill>
                <a:latin typeface="Calibri"/>
              </a:rPr>
              <a:t>Tile the image</a:t>
            </a:r>
          </a:p>
        </p:txBody>
      </p:sp>
      <p:sp>
        <p:nvSpPr>
          <p:cNvPr id="7" name="TextBox 6"/>
          <p:cNvSpPr txBox="1"/>
          <p:nvPr/>
        </p:nvSpPr>
        <p:spPr>
          <a:xfrm>
            <a:off x="1463040" y="2212848"/>
            <a:ext cx="5212080" cy="548640"/>
          </a:xfrm>
          <a:prstGeom prst="rect">
            <a:avLst/>
          </a:prstGeom>
          <a:noFill/>
        </p:spPr>
        <p:txBody>
          <a:bodyPr wrap="square" anchor="t" lIns="0" rIns="0" tIns="0" bIns="0">
            <a:spAutoFit/>
          </a:bodyPr>
          <a:lstStyle/>
          <a:p>
            <a:pPr algn="l">
              <a:lnSpc>
                <a:spcPct val="105000"/>
              </a:lnSpc>
              <a:spcBef>
                <a:spcPts val="0"/>
              </a:spcBef>
              <a:spcAft>
                <a:spcPts val="600"/>
              </a:spcAft>
            </a:pPr>
            <a:r>
              <a:rPr sz="1450" b="0">
                <a:solidFill>
                  <a:srgbClr val="5A6473"/>
                </a:solidFill>
                <a:latin typeface="Calibri"/>
              </a:rPr>
              <a:t>Split the picture into a grid of small 16×16 blocks.</a:t>
            </a:r>
          </a:p>
        </p:txBody>
      </p:sp>
      <p:sp>
        <p:nvSpPr>
          <p:cNvPr id="8" name="Oval 7"/>
          <p:cNvSpPr/>
          <p:nvPr/>
        </p:nvSpPr>
        <p:spPr>
          <a:xfrm>
            <a:off x="640080" y="2852928"/>
            <a:ext cx="566928" cy="566928"/>
          </a:xfrm>
          <a:prstGeom prst="ellipse">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2</a:t>
            </a:r>
          </a:p>
        </p:txBody>
      </p:sp>
      <p:sp>
        <p:nvSpPr>
          <p:cNvPr id="9" name="TextBox 8"/>
          <p:cNvSpPr txBox="1"/>
          <p:nvPr/>
        </p:nvSpPr>
        <p:spPr>
          <a:xfrm>
            <a:off x="1463040" y="2834640"/>
            <a:ext cx="5029200" cy="457200"/>
          </a:xfrm>
          <a:prstGeom prst="rect">
            <a:avLst/>
          </a:prstGeom>
          <a:noFill/>
        </p:spPr>
        <p:txBody>
          <a:bodyPr wrap="square" anchor="t" lIns="0" rIns="0" tIns="0" bIns="0">
            <a:spAutoFit/>
          </a:bodyPr>
          <a:lstStyle/>
          <a:p>
            <a:pPr algn="l">
              <a:lnSpc>
                <a:spcPct val="105000"/>
              </a:lnSpc>
              <a:spcBef>
                <a:spcPts val="0"/>
              </a:spcBef>
              <a:spcAft>
                <a:spcPts val="600"/>
              </a:spcAft>
            </a:pPr>
            <a:r>
              <a:rPr sz="1900" b="1">
                <a:solidFill>
                  <a:srgbClr val="1A2238"/>
                </a:solidFill>
                <a:latin typeface="Calibri"/>
              </a:rPr>
              <a:t>Find each tile's “energy”</a:t>
            </a:r>
          </a:p>
        </p:txBody>
      </p:sp>
      <p:sp>
        <p:nvSpPr>
          <p:cNvPr id="10" name="TextBox 9"/>
          <p:cNvSpPr txBox="1"/>
          <p:nvPr/>
        </p:nvSpPr>
        <p:spPr>
          <a:xfrm>
            <a:off x="1463040" y="3236976"/>
            <a:ext cx="5212080" cy="548640"/>
          </a:xfrm>
          <a:prstGeom prst="rect">
            <a:avLst/>
          </a:prstGeom>
          <a:noFill/>
        </p:spPr>
        <p:txBody>
          <a:bodyPr wrap="square" anchor="t" lIns="0" rIns="0" tIns="0" bIns="0">
            <a:spAutoFit/>
          </a:bodyPr>
          <a:lstStyle/>
          <a:p>
            <a:pPr algn="l">
              <a:lnSpc>
                <a:spcPct val="105000"/>
              </a:lnSpc>
              <a:spcBef>
                <a:spcPts val="0"/>
              </a:spcBef>
              <a:spcAft>
                <a:spcPts val="600"/>
              </a:spcAft>
            </a:pPr>
            <a:r>
              <a:rPr sz="1450" b="0">
                <a:solidFill>
                  <a:srgbClr val="5A6473"/>
                </a:solidFill>
                <a:latin typeface="Calibri"/>
              </a:rPr>
              <a:t>Each tile has one dominant value capturing its core brightness and structure.</a:t>
            </a:r>
          </a:p>
        </p:txBody>
      </p:sp>
      <p:sp>
        <p:nvSpPr>
          <p:cNvPr id="11" name="Oval 10"/>
          <p:cNvSpPr/>
          <p:nvPr/>
        </p:nvSpPr>
        <p:spPr>
          <a:xfrm>
            <a:off x="640080" y="3877056"/>
            <a:ext cx="566928" cy="566928"/>
          </a:xfrm>
          <a:prstGeom prst="ellipse">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3</a:t>
            </a:r>
          </a:p>
        </p:txBody>
      </p:sp>
      <p:sp>
        <p:nvSpPr>
          <p:cNvPr id="12" name="TextBox 11"/>
          <p:cNvSpPr txBox="1"/>
          <p:nvPr/>
        </p:nvSpPr>
        <p:spPr>
          <a:xfrm>
            <a:off x="1463040" y="3858768"/>
            <a:ext cx="5029200" cy="457200"/>
          </a:xfrm>
          <a:prstGeom prst="rect">
            <a:avLst/>
          </a:prstGeom>
          <a:noFill/>
        </p:spPr>
        <p:txBody>
          <a:bodyPr wrap="square" anchor="t" lIns="0" rIns="0" tIns="0" bIns="0">
            <a:spAutoFit/>
          </a:bodyPr>
          <a:lstStyle/>
          <a:p>
            <a:pPr algn="l">
              <a:lnSpc>
                <a:spcPct val="105000"/>
              </a:lnSpc>
              <a:spcBef>
                <a:spcPts val="0"/>
              </a:spcBef>
              <a:spcAft>
                <a:spcPts val="600"/>
              </a:spcAft>
            </a:pPr>
            <a:r>
              <a:rPr sz="1900" b="1">
                <a:solidFill>
                  <a:srgbClr val="1A2238"/>
                </a:solidFill>
                <a:latin typeface="Calibri"/>
              </a:rPr>
              <a:t>Nudge it by the mark</a:t>
            </a:r>
          </a:p>
        </p:txBody>
      </p:sp>
      <p:sp>
        <p:nvSpPr>
          <p:cNvPr id="13" name="TextBox 12"/>
          <p:cNvSpPr txBox="1"/>
          <p:nvPr/>
        </p:nvSpPr>
        <p:spPr>
          <a:xfrm>
            <a:off x="1463040" y="4261104"/>
            <a:ext cx="5212080" cy="548640"/>
          </a:xfrm>
          <a:prstGeom prst="rect">
            <a:avLst/>
          </a:prstGeom>
          <a:noFill/>
        </p:spPr>
        <p:txBody>
          <a:bodyPr wrap="square" anchor="t" lIns="0" rIns="0" tIns="0" bIns="0">
            <a:spAutoFit/>
          </a:bodyPr>
          <a:lstStyle/>
          <a:p>
            <a:pPr algn="l">
              <a:lnSpc>
                <a:spcPct val="105000"/>
              </a:lnSpc>
              <a:spcBef>
                <a:spcPts val="0"/>
              </a:spcBef>
              <a:spcAft>
                <a:spcPts val="600"/>
              </a:spcAft>
            </a:pPr>
            <a:r>
              <a:rPr sz="1450" b="0">
                <a:solidFill>
                  <a:srgbClr val="5A6473"/>
                </a:solidFill>
                <a:latin typeface="Calibri"/>
              </a:rPr>
              <a:t>Adjust that value by a microscopic amount driven by the watermark.</a:t>
            </a:r>
          </a:p>
        </p:txBody>
      </p:sp>
      <p:sp>
        <p:nvSpPr>
          <p:cNvPr id="14" name="Oval 13"/>
          <p:cNvSpPr/>
          <p:nvPr/>
        </p:nvSpPr>
        <p:spPr>
          <a:xfrm>
            <a:off x="640080" y="4901184"/>
            <a:ext cx="566928" cy="566928"/>
          </a:xfrm>
          <a:prstGeom prst="ellipse">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4</a:t>
            </a:r>
          </a:p>
        </p:txBody>
      </p:sp>
      <p:sp>
        <p:nvSpPr>
          <p:cNvPr id="15" name="TextBox 14"/>
          <p:cNvSpPr txBox="1"/>
          <p:nvPr/>
        </p:nvSpPr>
        <p:spPr>
          <a:xfrm>
            <a:off x="1463040" y="4882896"/>
            <a:ext cx="5029200" cy="457200"/>
          </a:xfrm>
          <a:prstGeom prst="rect">
            <a:avLst/>
          </a:prstGeom>
          <a:noFill/>
        </p:spPr>
        <p:txBody>
          <a:bodyPr wrap="square" anchor="t" lIns="0" rIns="0" tIns="0" bIns="0">
            <a:spAutoFit/>
          </a:bodyPr>
          <a:lstStyle/>
          <a:p>
            <a:pPr algn="l">
              <a:lnSpc>
                <a:spcPct val="105000"/>
              </a:lnSpc>
              <a:spcBef>
                <a:spcPts val="0"/>
              </a:spcBef>
              <a:spcAft>
                <a:spcPts val="600"/>
              </a:spcAft>
            </a:pPr>
            <a:r>
              <a:rPr sz="1900" b="1">
                <a:solidFill>
                  <a:srgbClr val="1A2238"/>
                </a:solidFill>
                <a:latin typeface="Calibri"/>
              </a:rPr>
              <a:t>Reassemble</a:t>
            </a:r>
          </a:p>
        </p:txBody>
      </p:sp>
      <p:sp>
        <p:nvSpPr>
          <p:cNvPr id="16" name="TextBox 15"/>
          <p:cNvSpPr txBox="1"/>
          <p:nvPr/>
        </p:nvSpPr>
        <p:spPr>
          <a:xfrm>
            <a:off x="1463040" y="5285232"/>
            <a:ext cx="5212080" cy="548640"/>
          </a:xfrm>
          <a:prstGeom prst="rect">
            <a:avLst/>
          </a:prstGeom>
          <a:noFill/>
        </p:spPr>
        <p:txBody>
          <a:bodyPr wrap="square" anchor="t" lIns="0" rIns="0" tIns="0" bIns="0">
            <a:spAutoFit/>
          </a:bodyPr>
          <a:lstStyle/>
          <a:p>
            <a:pPr algn="l">
              <a:lnSpc>
                <a:spcPct val="105000"/>
              </a:lnSpc>
              <a:spcBef>
                <a:spcPts val="0"/>
              </a:spcBef>
              <a:spcAft>
                <a:spcPts val="600"/>
              </a:spcAft>
            </a:pPr>
            <a:r>
              <a:rPr sz="1450" b="0">
                <a:solidFill>
                  <a:srgbClr val="5A6473"/>
                </a:solidFill>
                <a:latin typeface="Calibri"/>
              </a:rPr>
              <a:t>Stitch the tiles back together — the picture looks unchanged.</a:t>
            </a:r>
          </a:p>
        </p:txBody>
      </p:sp>
      <p:pic>
        <p:nvPicPr>
          <p:cNvPr id="17" name="Picture 16" descr="diff_amp.png"/>
          <p:cNvPicPr>
            <a:picLocks noChangeAspect="1"/>
          </p:cNvPicPr>
          <p:nvPr/>
        </p:nvPicPr>
        <p:blipFill>
          <a:blip r:embed="rId2"/>
          <a:stretch>
            <a:fillRect/>
          </a:stretch>
        </p:blipFill>
        <p:spPr>
          <a:xfrm>
            <a:off x="7360920" y="1874519"/>
            <a:ext cx="3383280" cy="3383280"/>
          </a:xfrm>
          <a:prstGeom prst="rect">
            <a:avLst/>
          </a:prstGeom>
          <a:ln w="15875">
            <a:solidFill>
              <a:srgbClr val="D0D5DD"/>
            </a:solidFill>
          </a:ln>
        </p:spPr>
      </p:pic>
      <p:sp>
        <p:nvSpPr>
          <p:cNvPr id="18" name="TextBox 17"/>
          <p:cNvSpPr txBox="1"/>
          <p:nvPr/>
        </p:nvSpPr>
        <p:spPr>
          <a:xfrm>
            <a:off x="7360920" y="5321808"/>
            <a:ext cx="3383280" cy="640080"/>
          </a:xfrm>
          <a:prstGeom prst="rect">
            <a:avLst/>
          </a:prstGeom>
          <a:noFill/>
        </p:spPr>
        <p:txBody>
          <a:bodyPr wrap="square" anchor="t" lIns="0" rIns="0" tIns="0" bIns="0">
            <a:spAutoFit/>
          </a:bodyPr>
          <a:lstStyle/>
          <a:p>
            <a:pPr algn="ctr">
              <a:lnSpc>
                <a:spcPct val="112000"/>
              </a:lnSpc>
              <a:spcBef>
                <a:spcPts val="0"/>
              </a:spcBef>
              <a:spcAft>
                <a:spcPts val="600"/>
              </a:spcAft>
            </a:pPr>
            <a:r>
              <a:rPr sz="1250" b="0">
                <a:solidFill>
                  <a:srgbClr val="5A6473"/>
                </a:solidFill>
                <a:latin typeface="Calibri"/>
              </a:rPr>
              <a:t>The hidden change, amplified ×30 so it's visible. At normal scale, none of it can be seen.</a:t>
            </a:r>
          </a:p>
        </p:txBody>
      </p:sp>
      <p:sp>
        <p:nvSpPr>
          <p:cNvPr id="19" name="TextBox 18"/>
          <p:cNvSpPr txBox="1"/>
          <p:nvPr/>
        </p:nvSpPr>
        <p:spPr>
          <a:xfrm>
            <a:off x="640080" y="6455664"/>
            <a:ext cx="4572000" cy="274320"/>
          </a:xfrm>
          <a:prstGeom prst="rect">
            <a:avLst/>
          </a:prstGeom>
          <a:noFill/>
        </p:spPr>
        <p:txBody>
          <a:bodyPr wrap="square" anchor="t" lIns="0" rIns="0" tIns="0" bIns="0">
            <a:spAutoFit/>
          </a:bodyPr>
          <a:lstStyle/>
          <a:p>
            <a:pPr algn="l">
              <a:lnSpc>
                <a:spcPct val="105000"/>
              </a:lnSpc>
              <a:spcBef>
                <a:spcPts val="0"/>
              </a:spcBef>
              <a:spcAft>
                <a:spcPts val="600"/>
              </a:spcAft>
            </a:pPr>
            <a:r>
              <a:rPr sz="1000" b="1">
                <a:solidFill>
                  <a:srgbClr val="5A6473"/>
                </a:solidFill>
                <a:latin typeface="Calibri"/>
              </a:rPr>
              <a:t>Invisign</a:t>
            </a:r>
            <a:r>
              <a:rPr sz="1000" b="0">
                <a:solidFill>
                  <a:srgbClr val="5A6473"/>
                </a:solidFill>
                <a:latin typeface="Calibri"/>
              </a:rPr>
              <a:t>  ·  Capstone defense</a:t>
            </a:r>
          </a:p>
        </p:txBody>
      </p:sp>
      <p:sp>
        <p:nvSpPr>
          <p:cNvPr id="20" name="TextBox 19"/>
          <p:cNvSpPr txBox="1"/>
          <p:nvPr/>
        </p:nvSpPr>
        <p:spPr>
          <a:xfrm>
            <a:off x="10881360" y="6455664"/>
            <a:ext cx="91440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a:solidFill>
                  <a:srgbClr val="5A6473"/>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566928"/>
            <a:ext cx="502920" cy="82296"/>
          </a:xfrm>
          <a:prstGeom prst="rect">
            <a:avLst/>
          </a:prstGeom>
          <a:solidFill>
            <a:srgbClr val="1FA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0160" y="411480"/>
            <a:ext cx="9144000" cy="365760"/>
          </a:xfrm>
          <a:prstGeom prst="rect">
            <a:avLst/>
          </a:prstGeom>
          <a:noFill/>
        </p:spPr>
        <p:txBody>
          <a:bodyPr wrap="square" anchor="t" lIns="0" rIns="0" tIns="0" bIns="0">
            <a:spAutoFit/>
          </a:bodyPr>
          <a:lstStyle/>
          <a:p>
            <a:pPr algn="l">
              <a:lnSpc>
                <a:spcPct val="105000"/>
              </a:lnSpc>
              <a:spcBef>
                <a:spcPts val="0"/>
              </a:spcBef>
              <a:spcAft>
                <a:spcPts val="600"/>
              </a:spcAft>
            </a:pPr>
            <a:r>
              <a:rPr sz="1400" b="1">
                <a:solidFill>
                  <a:srgbClr val="1FA97D"/>
                </a:solidFill>
                <a:latin typeface="Calibri"/>
              </a:rPr>
              <a:t>RESULT · IMPERCEPTIBILITY</a:t>
            </a:r>
          </a:p>
        </p:txBody>
      </p:sp>
      <p:sp>
        <p:nvSpPr>
          <p:cNvPr id="4" name="TextBox 3"/>
          <p:cNvSpPr txBox="1"/>
          <p:nvPr/>
        </p:nvSpPr>
        <p:spPr>
          <a:xfrm>
            <a:off x="640080" y="841248"/>
            <a:ext cx="10972800" cy="914400"/>
          </a:xfrm>
          <a:prstGeom prst="rect">
            <a:avLst/>
          </a:prstGeom>
          <a:noFill/>
        </p:spPr>
        <p:txBody>
          <a:bodyPr wrap="square" anchor="t" lIns="0" rIns="0" tIns="0" bIns="0">
            <a:spAutoFit/>
          </a:bodyPr>
          <a:lstStyle/>
          <a:p>
            <a:pPr algn="l">
              <a:lnSpc>
                <a:spcPct val="100000"/>
              </a:lnSpc>
              <a:spcBef>
                <a:spcPts val="0"/>
              </a:spcBef>
              <a:spcAft>
                <a:spcPts val="600"/>
              </a:spcAft>
            </a:pPr>
            <a:r>
              <a:rPr sz="3000" b="1">
                <a:solidFill>
                  <a:srgbClr val="1A2238"/>
                </a:solidFill>
                <a:latin typeface="Calibri"/>
              </a:rPr>
              <a:t>Invisible at the strength we ship</a:t>
            </a:r>
          </a:p>
        </p:txBody>
      </p:sp>
      <p:pic>
        <p:nvPicPr>
          <p:cNvPr id="5" name="Picture 4" descr="chart_psnr.png"/>
          <p:cNvPicPr>
            <a:picLocks noChangeAspect="1"/>
          </p:cNvPicPr>
          <p:nvPr/>
        </p:nvPicPr>
        <p:blipFill>
          <a:blip r:embed="rId2"/>
          <a:stretch>
            <a:fillRect/>
          </a:stretch>
        </p:blipFill>
        <p:spPr>
          <a:xfrm>
            <a:off x="640080" y="1920240"/>
            <a:ext cx="5394960" cy="3059828"/>
          </a:xfrm>
          <a:prstGeom prst="rect">
            <a:avLst/>
          </a:prstGeom>
        </p:spPr>
      </p:pic>
      <p:sp>
        <p:nvSpPr>
          <p:cNvPr id="6" name="TextBox 5"/>
          <p:cNvSpPr txBox="1"/>
          <p:nvPr/>
        </p:nvSpPr>
        <p:spPr>
          <a:xfrm>
            <a:off x="6263640" y="1874519"/>
            <a:ext cx="5257800" cy="2377440"/>
          </a:xfrm>
          <a:prstGeom prst="rect">
            <a:avLst/>
          </a:prstGeom>
          <a:noFill/>
        </p:spPr>
        <p:txBody>
          <a:bodyPr wrap="square" lIns="0" rIns="0" tIns="0" bIns="0">
            <a:spAutoFit/>
          </a:bodyPr>
          <a:lstStyle/>
          <a:p>
            <a:pPr>
              <a:lnSpc>
                <a:spcPct val="107000"/>
              </a:lnSpc>
              <a:spcBef>
                <a:spcPts val="0"/>
              </a:spcBef>
              <a:spcAft>
                <a:spcPts val="1400"/>
              </a:spcAft>
            </a:pPr>
            <a:r>
              <a:rPr sz="1600" b="1">
                <a:solidFill>
                  <a:srgbClr val="1FA97D"/>
                </a:solidFill>
                <a:latin typeface="Calibri"/>
              </a:rPr>
              <a:t>▪  </a:t>
            </a:r>
            <a:r>
              <a:rPr sz="1600" b="1">
                <a:solidFill>
                  <a:srgbClr val="1A2238"/>
                </a:solidFill>
                <a:latin typeface="Calibri"/>
              </a:rPr>
              <a:t>51 dB, SSIM 0.999. </a:t>
            </a:r>
            <a:r>
              <a:rPr sz="1600">
                <a:solidFill>
                  <a:srgbClr val="1A2238"/>
                </a:solidFill>
                <a:latin typeface="Calibri"/>
              </a:rPr>
              <a:t>At the default strength the marked image is mathematically indistinguishable from the original.</a:t>
            </a:r>
          </a:p>
          <a:p>
            <a:pPr>
              <a:lnSpc>
                <a:spcPct val="107000"/>
              </a:lnSpc>
              <a:spcBef>
                <a:spcPts val="0"/>
              </a:spcBef>
              <a:spcAft>
                <a:spcPts val="1400"/>
              </a:spcAft>
            </a:pPr>
            <a:r>
              <a:rPr sz="1600" b="1">
                <a:solidFill>
                  <a:srgbClr val="1FA97D"/>
                </a:solidFill>
                <a:latin typeface="Calibri"/>
              </a:rPr>
              <a:t>▪  </a:t>
            </a:r>
            <a:r>
              <a:rPr sz="1600" b="1">
                <a:solidFill>
                  <a:srgbClr val="1A2238"/>
                </a:solidFill>
                <a:latin typeface="Calibri"/>
              </a:rPr>
              <a:t>Tested on 39 images. </a:t>
            </a:r>
            <a:r>
              <a:rPr sz="1600">
                <a:solidFill>
                  <a:srgbClr val="1A2238"/>
                </a:solidFill>
                <a:latin typeface="Calibri"/>
              </a:rPr>
              <a:t>The same result holds right across the standard benchmark.</a:t>
            </a:r>
          </a:p>
          <a:p>
            <a:pPr>
              <a:lnSpc>
                <a:spcPct val="107000"/>
              </a:lnSpc>
              <a:spcBef>
                <a:spcPts val="0"/>
              </a:spcBef>
              <a:spcAft>
                <a:spcPts val="1400"/>
              </a:spcAft>
            </a:pPr>
            <a:r>
              <a:rPr sz="1600" b="1">
                <a:solidFill>
                  <a:srgbClr val="1FA97D"/>
                </a:solidFill>
                <a:latin typeface="Calibri"/>
              </a:rPr>
              <a:t>▪  </a:t>
            </a:r>
            <a:r>
              <a:rPr sz="1600" b="1">
                <a:solidFill>
                  <a:srgbClr val="1A2238"/>
                </a:solidFill>
                <a:latin typeface="Calibri"/>
              </a:rPr>
              <a:t>Tunable. </a:t>
            </a:r>
            <a:r>
              <a:rPr sz="1600">
                <a:solidFill>
                  <a:srgbClr val="1A2238"/>
                </a:solidFill>
                <a:latin typeface="Calibri"/>
              </a:rPr>
              <a:t>Strength can be raised for harsher channels — at a visible cost.</a:t>
            </a:r>
          </a:p>
        </p:txBody>
      </p:sp>
      <p:pic>
        <p:nvPicPr>
          <p:cNvPr id="7" name="Picture 6" descr="marked_07.png"/>
          <p:cNvPicPr>
            <a:picLocks noChangeAspect="1"/>
          </p:cNvPicPr>
          <p:nvPr/>
        </p:nvPicPr>
        <p:blipFill>
          <a:blip r:embed="rId3"/>
          <a:stretch>
            <a:fillRect/>
          </a:stretch>
        </p:blipFill>
        <p:spPr>
          <a:xfrm>
            <a:off x="6263640" y="4526280"/>
            <a:ext cx="1417320" cy="1417320"/>
          </a:xfrm>
          <a:prstGeom prst="rect">
            <a:avLst/>
          </a:prstGeom>
          <a:ln w="15875">
            <a:solidFill>
              <a:srgbClr val="D0D5DD"/>
            </a:solidFill>
          </a:ln>
        </p:spPr>
      </p:pic>
      <p:sp>
        <p:nvSpPr>
          <p:cNvPr id="8" name="TextBox 7"/>
          <p:cNvSpPr txBox="1"/>
          <p:nvPr/>
        </p:nvSpPr>
        <p:spPr>
          <a:xfrm>
            <a:off x="7909560" y="4681728"/>
            <a:ext cx="3611880" cy="640080"/>
          </a:xfrm>
          <a:prstGeom prst="rect">
            <a:avLst/>
          </a:prstGeom>
          <a:noFill/>
        </p:spPr>
        <p:txBody>
          <a:bodyPr wrap="square" anchor="t" lIns="0" rIns="0" tIns="0" bIns="0">
            <a:spAutoFit/>
          </a:bodyPr>
          <a:lstStyle/>
          <a:p>
            <a:pPr algn="l">
              <a:lnSpc>
                <a:spcPct val="112000"/>
              </a:lnSpc>
              <a:spcBef>
                <a:spcPts val="0"/>
              </a:spcBef>
              <a:spcAft>
                <a:spcPts val="600"/>
              </a:spcAft>
            </a:pPr>
            <a:r>
              <a:rPr sz="1300" b="0">
                <a:solidFill>
                  <a:srgbClr val="5A6473"/>
                </a:solidFill>
                <a:latin typeface="Calibri"/>
              </a:rPr>
              <a:t>At maximum strength (α = 0.7), faint banding finally appears — the trade-off knob for hostile channels.</a:t>
            </a:r>
          </a:p>
        </p:txBody>
      </p:sp>
      <p:sp>
        <p:nvSpPr>
          <p:cNvPr id="9" name="TextBox 8"/>
          <p:cNvSpPr txBox="1"/>
          <p:nvPr/>
        </p:nvSpPr>
        <p:spPr>
          <a:xfrm>
            <a:off x="640080" y="6455664"/>
            <a:ext cx="4572000" cy="274320"/>
          </a:xfrm>
          <a:prstGeom prst="rect">
            <a:avLst/>
          </a:prstGeom>
          <a:noFill/>
        </p:spPr>
        <p:txBody>
          <a:bodyPr wrap="square" anchor="t" lIns="0" rIns="0" tIns="0" bIns="0">
            <a:spAutoFit/>
          </a:bodyPr>
          <a:lstStyle/>
          <a:p>
            <a:pPr algn="l">
              <a:lnSpc>
                <a:spcPct val="105000"/>
              </a:lnSpc>
              <a:spcBef>
                <a:spcPts val="0"/>
              </a:spcBef>
              <a:spcAft>
                <a:spcPts val="600"/>
              </a:spcAft>
            </a:pPr>
            <a:r>
              <a:rPr sz="1000" b="1">
                <a:solidFill>
                  <a:srgbClr val="5A6473"/>
                </a:solidFill>
                <a:latin typeface="Calibri"/>
              </a:rPr>
              <a:t>Invisign</a:t>
            </a:r>
            <a:r>
              <a:rPr sz="1000" b="0">
                <a:solidFill>
                  <a:srgbClr val="5A6473"/>
                </a:solidFill>
                <a:latin typeface="Calibri"/>
              </a:rPr>
              <a:t>  ·  Capstone defense</a:t>
            </a:r>
          </a:p>
        </p:txBody>
      </p:sp>
      <p:sp>
        <p:nvSpPr>
          <p:cNvPr id="10" name="TextBox 9"/>
          <p:cNvSpPr txBox="1"/>
          <p:nvPr/>
        </p:nvSpPr>
        <p:spPr>
          <a:xfrm>
            <a:off x="10881360" y="6455664"/>
            <a:ext cx="91440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a:solidFill>
                  <a:srgbClr val="5A6473"/>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566928"/>
            <a:ext cx="502920" cy="82296"/>
          </a:xfrm>
          <a:prstGeom prst="rect">
            <a:avLst/>
          </a:prstGeom>
          <a:solidFill>
            <a:srgbClr val="1FA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0160" y="411480"/>
            <a:ext cx="9144000" cy="365760"/>
          </a:xfrm>
          <a:prstGeom prst="rect">
            <a:avLst/>
          </a:prstGeom>
          <a:noFill/>
        </p:spPr>
        <p:txBody>
          <a:bodyPr wrap="square" anchor="t" lIns="0" rIns="0" tIns="0" bIns="0">
            <a:spAutoFit/>
          </a:bodyPr>
          <a:lstStyle/>
          <a:p>
            <a:pPr algn="l">
              <a:lnSpc>
                <a:spcPct val="105000"/>
              </a:lnSpc>
              <a:spcBef>
                <a:spcPts val="0"/>
              </a:spcBef>
              <a:spcAft>
                <a:spcPts val="600"/>
              </a:spcAft>
            </a:pPr>
            <a:r>
              <a:rPr sz="1400" b="1">
                <a:solidFill>
                  <a:srgbClr val="1FA97D"/>
                </a:solidFill>
                <a:latin typeface="Calibri"/>
              </a:rPr>
              <a:t>RESULT · IT COMES BACK OUT</a:t>
            </a:r>
          </a:p>
        </p:txBody>
      </p:sp>
      <p:sp>
        <p:nvSpPr>
          <p:cNvPr id="4" name="TextBox 3"/>
          <p:cNvSpPr txBox="1"/>
          <p:nvPr/>
        </p:nvSpPr>
        <p:spPr>
          <a:xfrm>
            <a:off x="640080" y="841248"/>
            <a:ext cx="10972800" cy="914400"/>
          </a:xfrm>
          <a:prstGeom prst="rect">
            <a:avLst/>
          </a:prstGeom>
          <a:noFill/>
        </p:spPr>
        <p:txBody>
          <a:bodyPr wrap="square" anchor="t" lIns="0" rIns="0" tIns="0" bIns="0">
            <a:spAutoFit/>
          </a:bodyPr>
          <a:lstStyle/>
          <a:p>
            <a:pPr algn="l">
              <a:lnSpc>
                <a:spcPct val="100000"/>
              </a:lnSpc>
              <a:spcBef>
                <a:spcPts val="0"/>
              </a:spcBef>
              <a:spcAft>
                <a:spcPts val="600"/>
              </a:spcAft>
            </a:pPr>
            <a:r>
              <a:rPr sz="3000" b="1">
                <a:solidFill>
                  <a:srgbClr val="1A2238"/>
                </a:solidFill>
                <a:latin typeface="Calibri"/>
              </a:rPr>
              <a:t>And the hidden mark comes back out</a:t>
            </a:r>
          </a:p>
        </p:txBody>
      </p:sp>
      <p:pic>
        <p:nvPicPr>
          <p:cNvPr id="5" name="Picture 4" descr="marked_001.png"/>
          <p:cNvPicPr>
            <a:picLocks noChangeAspect="1"/>
          </p:cNvPicPr>
          <p:nvPr/>
        </p:nvPicPr>
        <p:blipFill>
          <a:blip r:embed="rId2"/>
          <a:stretch>
            <a:fillRect/>
          </a:stretch>
        </p:blipFill>
        <p:spPr>
          <a:xfrm>
            <a:off x="1005840" y="2194560"/>
            <a:ext cx="2468880" cy="2468880"/>
          </a:xfrm>
          <a:prstGeom prst="rect">
            <a:avLst/>
          </a:prstGeom>
          <a:ln w="15875">
            <a:solidFill>
              <a:srgbClr val="D0D5DD"/>
            </a:solidFill>
          </a:ln>
        </p:spPr>
      </p:pic>
      <p:sp>
        <p:nvSpPr>
          <p:cNvPr id="6" name="TextBox 5"/>
          <p:cNvSpPr txBox="1"/>
          <p:nvPr/>
        </p:nvSpPr>
        <p:spPr>
          <a:xfrm>
            <a:off x="1005840" y="4800600"/>
            <a:ext cx="2468880" cy="640080"/>
          </a:xfrm>
          <a:prstGeom prst="rect">
            <a:avLst/>
          </a:prstGeom>
          <a:noFill/>
        </p:spPr>
        <p:txBody>
          <a:bodyPr wrap="square" anchor="t" lIns="0" rIns="0" tIns="0" bIns="0">
            <a:spAutoFit/>
          </a:bodyPr>
          <a:lstStyle/>
          <a:p>
            <a:pPr algn="ctr">
              <a:lnSpc>
                <a:spcPct val="112000"/>
              </a:lnSpc>
              <a:spcBef>
                <a:spcPts val="0"/>
              </a:spcBef>
              <a:spcAft>
                <a:spcPts val="600"/>
              </a:spcAft>
            </a:pPr>
            <a:r>
              <a:rPr sz="1200" b="0">
                <a:solidFill>
                  <a:srgbClr val="5A6473"/>
                </a:solidFill>
                <a:latin typeface="Calibri"/>
              </a:rPr>
              <a:t>Marked image</a:t>
            </a:r>
          </a:p>
        </p:txBody>
      </p:sp>
      <p:sp>
        <p:nvSpPr>
          <p:cNvPr id="7" name="TextBox 6"/>
          <p:cNvSpPr txBox="1"/>
          <p:nvPr/>
        </p:nvSpPr>
        <p:spPr>
          <a:xfrm>
            <a:off x="3657600" y="2880360"/>
            <a:ext cx="1280160" cy="731520"/>
          </a:xfrm>
          <a:prstGeom prst="rect">
            <a:avLst/>
          </a:prstGeom>
          <a:noFill/>
        </p:spPr>
        <p:txBody>
          <a:bodyPr wrap="square" anchor="t" lIns="0" rIns="0" tIns="0" bIns="0">
            <a:spAutoFit/>
          </a:bodyPr>
          <a:lstStyle/>
          <a:p>
            <a:pPr algn="ctr">
              <a:lnSpc>
                <a:spcPct val="105000"/>
              </a:lnSpc>
              <a:spcBef>
                <a:spcPts val="0"/>
              </a:spcBef>
              <a:spcAft>
                <a:spcPts val="600"/>
              </a:spcAft>
            </a:pPr>
            <a:r>
              <a:rPr sz="4000" b="1">
                <a:solidFill>
                  <a:srgbClr val="1FA97D"/>
                </a:solidFill>
                <a:latin typeface="Calibri"/>
              </a:rPr>
              <a:t>→</a:t>
            </a:r>
          </a:p>
        </p:txBody>
      </p:sp>
      <p:sp>
        <p:nvSpPr>
          <p:cNvPr id="8" name="Rounded Rectangle 7"/>
          <p:cNvSpPr/>
          <p:nvPr/>
        </p:nvSpPr>
        <p:spPr>
          <a:xfrm>
            <a:off x="3657600" y="3749039"/>
            <a:ext cx="1325880" cy="502920"/>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3822191"/>
            <a:ext cx="1325880" cy="411480"/>
          </a:xfrm>
          <a:prstGeom prst="rect">
            <a:avLst/>
          </a:prstGeom>
          <a:noFill/>
        </p:spPr>
        <p:txBody>
          <a:bodyPr wrap="square" anchor="t" lIns="0" rIns="0" tIns="0" bIns="0">
            <a:spAutoFit/>
          </a:bodyPr>
          <a:lstStyle/>
          <a:p>
            <a:pPr algn="ctr">
              <a:lnSpc>
                <a:spcPct val="105000"/>
              </a:lnSpc>
              <a:spcBef>
                <a:spcPts val="0"/>
              </a:spcBef>
              <a:spcAft>
                <a:spcPts val="600"/>
              </a:spcAft>
            </a:pPr>
            <a:r>
              <a:rPr sz="1400" b="1">
                <a:solidFill>
                  <a:srgbClr val="FFFFFF"/>
                </a:solidFill>
                <a:latin typeface="Calibri"/>
              </a:rPr>
              <a:t>extract</a:t>
            </a:r>
          </a:p>
        </p:txBody>
      </p:sp>
      <p:pic>
        <p:nvPicPr>
          <p:cNvPr id="10" name="Picture 9" descr="recovered.png"/>
          <p:cNvPicPr>
            <a:picLocks noChangeAspect="1"/>
          </p:cNvPicPr>
          <p:nvPr/>
        </p:nvPicPr>
        <p:blipFill>
          <a:blip r:embed="rId3"/>
          <a:stretch>
            <a:fillRect/>
          </a:stretch>
        </p:blipFill>
        <p:spPr>
          <a:xfrm>
            <a:off x="5212080" y="2194560"/>
            <a:ext cx="2468880" cy="2468880"/>
          </a:xfrm>
          <a:prstGeom prst="rect">
            <a:avLst/>
          </a:prstGeom>
          <a:ln w="15875">
            <a:solidFill>
              <a:srgbClr val="D0D5DD"/>
            </a:solidFill>
          </a:ln>
        </p:spPr>
      </p:pic>
      <p:sp>
        <p:nvSpPr>
          <p:cNvPr id="11" name="TextBox 10"/>
          <p:cNvSpPr txBox="1"/>
          <p:nvPr/>
        </p:nvSpPr>
        <p:spPr>
          <a:xfrm>
            <a:off x="5212080" y="4800600"/>
            <a:ext cx="2468880" cy="640080"/>
          </a:xfrm>
          <a:prstGeom prst="rect">
            <a:avLst/>
          </a:prstGeom>
          <a:noFill/>
        </p:spPr>
        <p:txBody>
          <a:bodyPr wrap="square" anchor="t" lIns="0" rIns="0" tIns="0" bIns="0">
            <a:spAutoFit/>
          </a:bodyPr>
          <a:lstStyle/>
          <a:p>
            <a:pPr algn="ctr">
              <a:lnSpc>
                <a:spcPct val="112000"/>
              </a:lnSpc>
              <a:spcBef>
                <a:spcPts val="0"/>
              </a:spcBef>
              <a:spcAft>
                <a:spcPts val="600"/>
              </a:spcAft>
            </a:pPr>
            <a:r>
              <a:rPr sz="1200" b="0">
                <a:solidFill>
                  <a:srgbClr val="5A6473"/>
                </a:solidFill>
                <a:latin typeface="Calibri"/>
              </a:rPr>
              <a:t>Recovered mark</a:t>
            </a:r>
          </a:p>
        </p:txBody>
      </p:sp>
      <p:sp>
        <p:nvSpPr>
          <p:cNvPr id="12" name="Rounded Rectangle 11"/>
          <p:cNvSpPr/>
          <p:nvPr/>
        </p:nvSpPr>
        <p:spPr>
          <a:xfrm>
            <a:off x="8229600" y="2331720"/>
            <a:ext cx="3291840" cy="2423160"/>
          </a:xfrm>
          <a:prstGeom prst="roundRect">
            <a:avLst>
              <a:gd name="adj" fmla="val 7000"/>
            </a:avLst>
          </a:prstGeom>
          <a:solidFill>
            <a:srgbClr val="EC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2697480"/>
            <a:ext cx="3291840" cy="914400"/>
          </a:xfrm>
          <a:prstGeom prst="rect">
            <a:avLst/>
          </a:prstGeom>
          <a:noFill/>
        </p:spPr>
        <p:txBody>
          <a:bodyPr wrap="square" anchor="t" lIns="0" rIns="0" tIns="0" bIns="0">
            <a:spAutoFit/>
          </a:bodyPr>
          <a:lstStyle/>
          <a:p>
            <a:pPr algn="ctr">
              <a:lnSpc>
                <a:spcPct val="105000"/>
              </a:lnSpc>
              <a:spcBef>
                <a:spcPts val="0"/>
              </a:spcBef>
              <a:spcAft>
                <a:spcPts val="600"/>
              </a:spcAft>
            </a:pPr>
            <a:r>
              <a:rPr sz="6400" b="1">
                <a:solidFill>
                  <a:srgbClr val="1FA97D"/>
                </a:solidFill>
                <a:latin typeface="Calibri"/>
              </a:rPr>
              <a:t>0.97</a:t>
            </a:r>
          </a:p>
        </p:txBody>
      </p:sp>
      <p:sp>
        <p:nvSpPr>
          <p:cNvPr id="14" name="TextBox 13"/>
          <p:cNvSpPr txBox="1"/>
          <p:nvPr/>
        </p:nvSpPr>
        <p:spPr>
          <a:xfrm>
            <a:off x="8229600" y="3767328"/>
            <a:ext cx="3291840" cy="457200"/>
          </a:xfrm>
          <a:prstGeom prst="rect">
            <a:avLst/>
          </a:prstGeom>
          <a:noFill/>
        </p:spPr>
        <p:txBody>
          <a:bodyPr wrap="square" anchor="t" lIns="0" rIns="0" tIns="0" bIns="0">
            <a:spAutoFit/>
          </a:bodyPr>
          <a:lstStyle/>
          <a:p>
            <a:pPr algn="ctr">
              <a:lnSpc>
                <a:spcPct val="105000"/>
              </a:lnSpc>
              <a:spcBef>
                <a:spcPts val="0"/>
              </a:spcBef>
              <a:spcAft>
                <a:spcPts val="600"/>
              </a:spcAft>
            </a:pPr>
            <a:r>
              <a:rPr sz="1600" b="1">
                <a:solidFill>
                  <a:srgbClr val="1A2238"/>
                </a:solidFill>
                <a:latin typeface="Calibri"/>
              </a:rPr>
              <a:t>match score</a:t>
            </a:r>
          </a:p>
        </p:txBody>
      </p:sp>
      <p:sp>
        <p:nvSpPr>
          <p:cNvPr id="15" name="TextBox 14"/>
          <p:cNvSpPr txBox="1"/>
          <p:nvPr/>
        </p:nvSpPr>
        <p:spPr>
          <a:xfrm>
            <a:off x="8412480" y="4160520"/>
            <a:ext cx="2926080" cy="548640"/>
          </a:xfrm>
          <a:prstGeom prst="rect">
            <a:avLst/>
          </a:prstGeom>
          <a:noFill/>
        </p:spPr>
        <p:txBody>
          <a:bodyPr wrap="square" anchor="t" lIns="0" rIns="0" tIns="0" bIns="0">
            <a:spAutoFit/>
          </a:bodyPr>
          <a:lstStyle/>
          <a:p>
            <a:pPr algn="ctr">
              <a:lnSpc>
                <a:spcPct val="112000"/>
              </a:lnSpc>
              <a:spcBef>
                <a:spcPts val="0"/>
              </a:spcBef>
              <a:spcAft>
                <a:spcPts val="600"/>
              </a:spcAft>
            </a:pPr>
            <a:r>
              <a:rPr sz="1300" b="0">
                <a:solidFill>
                  <a:srgbClr val="5A6473"/>
                </a:solidFill>
                <a:latin typeface="Calibri"/>
              </a:rPr>
              <a:t>Near-perfect recovery on a clean copy (1.0 = identical).</a:t>
            </a:r>
          </a:p>
        </p:txBody>
      </p:sp>
      <p:sp>
        <p:nvSpPr>
          <p:cNvPr id="16" name="TextBox 15"/>
          <p:cNvSpPr txBox="1"/>
          <p:nvPr/>
        </p:nvSpPr>
        <p:spPr>
          <a:xfrm>
            <a:off x="640080" y="6455664"/>
            <a:ext cx="4572000" cy="274320"/>
          </a:xfrm>
          <a:prstGeom prst="rect">
            <a:avLst/>
          </a:prstGeom>
          <a:noFill/>
        </p:spPr>
        <p:txBody>
          <a:bodyPr wrap="square" anchor="t" lIns="0" rIns="0" tIns="0" bIns="0">
            <a:spAutoFit/>
          </a:bodyPr>
          <a:lstStyle/>
          <a:p>
            <a:pPr algn="l">
              <a:lnSpc>
                <a:spcPct val="105000"/>
              </a:lnSpc>
              <a:spcBef>
                <a:spcPts val="0"/>
              </a:spcBef>
              <a:spcAft>
                <a:spcPts val="600"/>
              </a:spcAft>
            </a:pPr>
            <a:r>
              <a:rPr sz="1000" b="1">
                <a:solidFill>
                  <a:srgbClr val="5A6473"/>
                </a:solidFill>
                <a:latin typeface="Calibri"/>
              </a:rPr>
              <a:t>Invisign</a:t>
            </a:r>
            <a:r>
              <a:rPr sz="1000" b="0">
                <a:solidFill>
                  <a:srgbClr val="5A6473"/>
                </a:solidFill>
                <a:latin typeface="Calibri"/>
              </a:rPr>
              <a:t>  ·  Capstone defense</a:t>
            </a:r>
          </a:p>
        </p:txBody>
      </p:sp>
      <p:sp>
        <p:nvSpPr>
          <p:cNvPr id="17" name="TextBox 16"/>
          <p:cNvSpPr txBox="1"/>
          <p:nvPr/>
        </p:nvSpPr>
        <p:spPr>
          <a:xfrm>
            <a:off x="10881360" y="6455664"/>
            <a:ext cx="91440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a:solidFill>
                  <a:srgbClr val="5A6473"/>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566928"/>
            <a:ext cx="502920" cy="82296"/>
          </a:xfrm>
          <a:prstGeom prst="rect">
            <a:avLst/>
          </a:prstGeom>
          <a:solidFill>
            <a:srgbClr val="1FA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0160" y="411480"/>
            <a:ext cx="9144000" cy="365760"/>
          </a:xfrm>
          <a:prstGeom prst="rect">
            <a:avLst/>
          </a:prstGeom>
          <a:noFill/>
        </p:spPr>
        <p:txBody>
          <a:bodyPr wrap="square" anchor="t" lIns="0" rIns="0" tIns="0" bIns="0">
            <a:spAutoFit/>
          </a:bodyPr>
          <a:lstStyle/>
          <a:p>
            <a:pPr algn="l">
              <a:lnSpc>
                <a:spcPct val="105000"/>
              </a:lnSpc>
              <a:spcBef>
                <a:spcPts val="0"/>
              </a:spcBef>
              <a:spcAft>
                <a:spcPts val="600"/>
              </a:spcAft>
            </a:pPr>
            <a:r>
              <a:rPr sz="1400" b="1">
                <a:solidFill>
                  <a:srgbClr val="1FA97D"/>
                </a:solidFill>
                <a:latin typeface="Calibri"/>
              </a:rPr>
              <a:t>HOW WE TESTED</a:t>
            </a:r>
          </a:p>
        </p:txBody>
      </p:sp>
      <p:sp>
        <p:nvSpPr>
          <p:cNvPr id="4" name="TextBox 3"/>
          <p:cNvSpPr txBox="1"/>
          <p:nvPr/>
        </p:nvSpPr>
        <p:spPr>
          <a:xfrm>
            <a:off x="640080" y="841248"/>
            <a:ext cx="10972800" cy="914400"/>
          </a:xfrm>
          <a:prstGeom prst="rect">
            <a:avLst/>
          </a:prstGeom>
          <a:noFill/>
        </p:spPr>
        <p:txBody>
          <a:bodyPr wrap="square" anchor="t" lIns="0" rIns="0" tIns="0" bIns="0">
            <a:spAutoFit/>
          </a:bodyPr>
          <a:lstStyle/>
          <a:p>
            <a:pPr algn="l">
              <a:lnSpc>
                <a:spcPct val="100000"/>
              </a:lnSpc>
              <a:spcBef>
                <a:spcPts val="0"/>
              </a:spcBef>
              <a:spcAft>
                <a:spcPts val="600"/>
              </a:spcAft>
            </a:pPr>
            <a:r>
              <a:rPr sz="3000" b="1">
                <a:solidFill>
                  <a:srgbClr val="1A2238"/>
                </a:solidFill>
                <a:latin typeface="Calibri"/>
              </a:rPr>
              <a:t>Measured honestly, on a standard benchmark</a:t>
            </a:r>
          </a:p>
        </p:txBody>
      </p:sp>
      <p:sp>
        <p:nvSpPr>
          <p:cNvPr id="5" name="TextBox 4"/>
          <p:cNvSpPr txBox="1"/>
          <p:nvPr/>
        </p:nvSpPr>
        <p:spPr>
          <a:xfrm>
            <a:off x="640080" y="1828800"/>
            <a:ext cx="5760720" cy="3657600"/>
          </a:xfrm>
          <a:prstGeom prst="rect">
            <a:avLst/>
          </a:prstGeom>
          <a:noFill/>
        </p:spPr>
        <p:txBody>
          <a:bodyPr wrap="square" lIns="0" rIns="0" tIns="0" bIns="0">
            <a:spAutoFit/>
          </a:bodyPr>
          <a:lstStyle/>
          <a:p>
            <a:pPr>
              <a:lnSpc>
                <a:spcPct val="107000"/>
              </a:lnSpc>
              <a:spcBef>
                <a:spcPts val="0"/>
              </a:spcBef>
              <a:spcAft>
                <a:spcPts val="1600"/>
              </a:spcAft>
            </a:pPr>
            <a:r>
              <a:rPr sz="1700" b="1">
                <a:solidFill>
                  <a:srgbClr val="1FA97D"/>
                </a:solidFill>
                <a:latin typeface="Calibri"/>
              </a:rPr>
              <a:t>▪  </a:t>
            </a:r>
            <a:r>
              <a:rPr sz="1700" b="1">
                <a:solidFill>
                  <a:srgbClr val="1A2238"/>
                </a:solidFill>
                <a:latin typeface="Calibri"/>
              </a:rPr>
              <a:t>39 standard test images. </a:t>
            </a:r>
            <a:r>
              <a:rPr sz="1700">
                <a:solidFill>
                  <a:srgbClr val="1A2238"/>
                </a:solidFill>
                <a:latin typeface="Calibri"/>
              </a:rPr>
              <a:t>The USC-SIPI suite used across the watermarking literature — peppers, baboon, boats, portraits.</a:t>
            </a:r>
          </a:p>
          <a:p>
            <a:pPr>
              <a:lnSpc>
                <a:spcPct val="107000"/>
              </a:lnSpc>
              <a:spcBef>
                <a:spcPts val="0"/>
              </a:spcBef>
              <a:spcAft>
                <a:spcPts val="1600"/>
              </a:spcAft>
            </a:pPr>
            <a:r>
              <a:rPr sz="1700" b="1">
                <a:solidFill>
                  <a:srgbClr val="1FA97D"/>
                </a:solidFill>
                <a:latin typeface="Calibri"/>
              </a:rPr>
              <a:t>▪  </a:t>
            </a:r>
            <a:r>
              <a:rPr sz="1700" b="1">
                <a:solidFill>
                  <a:srgbClr val="1A2238"/>
                </a:solidFill>
                <a:latin typeface="Calibri"/>
              </a:rPr>
              <a:t>8 attacks per image. </a:t>
            </a:r>
            <a:r>
              <a:rPr sz="1700">
                <a:solidFill>
                  <a:srgbClr val="1A2238"/>
                </a:solidFill>
                <a:latin typeface="Calibri"/>
              </a:rPr>
              <a:t>Rotation, mirror, noise, brightness, JPEG, exposure, blur, pixelation.</a:t>
            </a:r>
          </a:p>
          <a:p>
            <a:pPr>
              <a:lnSpc>
                <a:spcPct val="107000"/>
              </a:lnSpc>
              <a:spcBef>
                <a:spcPts val="0"/>
              </a:spcBef>
              <a:spcAft>
                <a:spcPts val="1600"/>
              </a:spcAft>
            </a:pPr>
            <a:r>
              <a:rPr sz="1700" b="1">
                <a:solidFill>
                  <a:srgbClr val="1FA97D"/>
                </a:solidFill>
                <a:latin typeface="Calibri"/>
              </a:rPr>
              <a:t>▪  </a:t>
            </a:r>
            <a:r>
              <a:rPr sz="1700" b="1">
                <a:solidFill>
                  <a:srgbClr val="1A2238"/>
                </a:solidFill>
                <a:latin typeface="Calibri"/>
              </a:rPr>
              <a:t>Two questions. </a:t>
            </a:r>
            <a:r>
              <a:rPr sz="1700">
                <a:solidFill>
                  <a:srgbClr val="1A2238"/>
                </a:solidFill>
                <a:latin typeface="Calibri"/>
              </a:rPr>
              <a:t>Is it invisible? (image quality)   ·   Does the mark survive? (recovery match).</a:t>
            </a:r>
          </a:p>
        </p:txBody>
      </p:sp>
      <p:sp>
        <p:nvSpPr>
          <p:cNvPr id="6" name="Rounded Rectangle 5"/>
          <p:cNvSpPr/>
          <p:nvPr/>
        </p:nvSpPr>
        <p:spPr>
          <a:xfrm>
            <a:off x="6766560" y="1828800"/>
            <a:ext cx="4754880" cy="3291840"/>
          </a:xfrm>
          <a:prstGeom prst="roundRect">
            <a:avLst>
              <a:gd name="adj" fmla="val 7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86600" y="2121408"/>
            <a:ext cx="4206240" cy="457200"/>
          </a:xfrm>
          <a:prstGeom prst="rect">
            <a:avLst/>
          </a:prstGeom>
          <a:noFill/>
        </p:spPr>
        <p:txBody>
          <a:bodyPr wrap="square" anchor="t" lIns="0" rIns="0" tIns="0" bIns="0">
            <a:spAutoFit/>
          </a:bodyPr>
          <a:lstStyle/>
          <a:p>
            <a:pPr algn="l">
              <a:lnSpc>
                <a:spcPct val="105000"/>
              </a:lnSpc>
              <a:spcBef>
                <a:spcPts val="0"/>
              </a:spcBef>
              <a:spcAft>
                <a:spcPts val="600"/>
              </a:spcAft>
            </a:pPr>
            <a:r>
              <a:rPr sz="1800" b="1">
                <a:solidFill>
                  <a:srgbClr val="1A2238"/>
                </a:solidFill>
                <a:latin typeface="Calibri"/>
              </a:rPr>
              <a:t>A fair yardstick</a:t>
            </a:r>
          </a:p>
        </p:txBody>
      </p:sp>
      <p:sp>
        <p:nvSpPr>
          <p:cNvPr id="8" name="TextBox 7"/>
          <p:cNvSpPr txBox="1"/>
          <p:nvPr/>
        </p:nvSpPr>
        <p:spPr>
          <a:xfrm>
            <a:off x="7086600" y="2697480"/>
            <a:ext cx="4160520" cy="2286000"/>
          </a:xfrm>
          <a:prstGeom prst="rect">
            <a:avLst/>
          </a:prstGeom>
          <a:noFill/>
        </p:spPr>
        <p:txBody>
          <a:bodyPr wrap="square" anchor="t" lIns="0" rIns="0" tIns="0" bIns="0">
            <a:spAutoFit/>
          </a:bodyPr>
          <a:lstStyle/>
          <a:p>
            <a:pPr algn="l">
              <a:lnSpc>
                <a:spcPct val="118000"/>
              </a:lnSpc>
              <a:spcBef>
                <a:spcPts val="0"/>
              </a:spcBef>
              <a:spcAft>
                <a:spcPts val="200"/>
              </a:spcAft>
            </a:pPr>
            <a:r>
              <a:rPr sz="1500" b="0">
                <a:solidFill>
                  <a:srgbClr val="1A2238"/>
                </a:solidFill>
                <a:latin typeface="Calibri"/>
              </a:rPr>
              <a:t>We don't just count a “match.” For every test we also extract from an </a:t>
            </a:r>
            <a:r>
              <a:rPr sz="1500" b="1">
                <a:solidFill>
                  <a:srgbClr val="1A2238"/>
                </a:solidFill>
                <a:latin typeface="Calibri"/>
              </a:rPr>
              <a:t>unmarked</a:t>
            </a:r>
            <a:r>
              <a:rPr sz="1500" b="0">
                <a:solidFill>
                  <a:srgbClr val="1A2238"/>
                </a:solidFill>
                <a:latin typeface="Calibri"/>
              </a:rPr>
              <a:t> copy and subtract that baseline.</a:t>
            </a:r>
          </a:p>
          <a:p>
            <a:pPr algn="l">
              <a:lnSpc>
                <a:spcPct val="118000"/>
              </a:lnSpc>
              <a:spcBef>
                <a:spcPts val="0"/>
              </a:spcBef>
              <a:spcAft>
                <a:spcPts val="200"/>
              </a:spcAft>
            </a:pPr>
            <a:r>
              <a:rPr sz="600" b="0">
                <a:solidFill>
                  <a:srgbClr val="1A2238"/>
                </a:solidFill>
                <a:latin typeface="Calibri"/>
              </a:rPr>
              <a:t/>
            </a:r>
          </a:p>
          <a:p>
            <a:pPr algn="l">
              <a:lnSpc>
                <a:spcPct val="118000"/>
              </a:lnSpc>
              <a:spcBef>
                <a:spcPts val="0"/>
              </a:spcBef>
              <a:spcAft>
                <a:spcPts val="200"/>
              </a:spcAft>
            </a:pPr>
            <a:r>
              <a:rPr sz="1500" b="0">
                <a:solidFill>
                  <a:srgbClr val="1A2238"/>
                </a:solidFill>
                <a:latin typeface="Calibri"/>
              </a:rPr>
              <a:t>So every result is the </a:t>
            </a:r>
            <a:r>
              <a:rPr sz="1500" b="1">
                <a:solidFill>
                  <a:srgbClr val="1FA97D"/>
                </a:solidFill>
                <a:latin typeface="Calibri"/>
              </a:rPr>
              <a:t>genuine lift</a:t>
            </a:r>
            <a:r>
              <a:rPr sz="1500" b="0">
                <a:solidFill>
                  <a:srgbClr val="1A2238"/>
                </a:solidFill>
                <a:latin typeface="Calibri"/>
              </a:rPr>
              <a:t> the watermark adds — not luck or coincidence.</a:t>
            </a:r>
          </a:p>
        </p:txBody>
      </p:sp>
      <p:sp>
        <p:nvSpPr>
          <p:cNvPr id="9" name="TextBox 8"/>
          <p:cNvSpPr txBox="1"/>
          <p:nvPr/>
        </p:nvSpPr>
        <p:spPr>
          <a:xfrm>
            <a:off x="640080" y="6455664"/>
            <a:ext cx="4572000" cy="274320"/>
          </a:xfrm>
          <a:prstGeom prst="rect">
            <a:avLst/>
          </a:prstGeom>
          <a:noFill/>
        </p:spPr>
        <p:txBody>
          <a:bodyPr wrap="square" anchor="t" lIns="0" rIns="0" tIns="0" bIns="0">
            <a:spAutoFit/>
          </a:bodyPr>
          <a:lstStyle/>
          <a:p>
            <a:pPr algn="l">
              <a:lnSpc>
                <a:spcPct val="105000"/>
              </a:lnSpc>
              <a:spcBef>
                <a:spcPts val="0"/>
              </a:spcBef>
              <a:spcAft>
                <a:spcPts val="600"/>
              </a:spcAft>
            </a:pPr>
            <a:r>
              <a:rPr sz="1000" b="1">
                <a:solidFill>
                  <a:srgbClr val="5A6473"/>
                </a:solidFill>
                <a:latin typeface="Calibri"/>
              </a:rPr>
              <a:t>Invisign</a:t>
            </a:r>
            <a:r>
              <a:rPr sz="1000" b="0">
                <a:solidFill>
                  <a:srgbClr val="5A6473"/>
                </a:solidFill>
                <a:latin typeface="Calibri"/>
              </a:rPr>
              <a:t>  ·  Capstone defense</a:t>
            </a:r>
          </a:p>
        </p:txBody>
      </p:sp>
      <p:sp>
        <p:nvSpPr>
          <p:cNvPr id="10" name="TextBox 9"/>
          <p:cNvSpPr txBox="1"/>
          <p:nvPr/>
        </p:nvSpPr>
        <p:spPr>
          <a:xfrm>
            <a:off x="10881360" y="6455664"/>
            <a:ext cx="91440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a:solidFill>
                  <a:srgbClr val="5A6473"/>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566928"/>
            <a:ext cx="502920" cy="82296"/>
          </a:xfrm>
          <a:prstGeom prst="rect">
            <a:avLst/>
          </a:prstGeom>
          <a:solidFill>
            <a:srgbClr val="1FA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0160" y="411480"/>
            <a:ext cx="9144000" cy="365760"/>
          </a:xfrm>
          <a:prstGeom prst="rect">
            <a:avLst/>
          </a:prstGeom>
          <a:noFill/>
        </p:spPr>
        <p:txBody>
          <a:bodyPr wrap="square" anchor="t" lIns="0" rIns="0" tIns="0" bIns="0">
            <a:spAutoFit/>
          </a:bodyPr>
          <a:lstStyle/>
          <a:p>
            <a:pPr algn="l">
              <a:lnSpc>
                <a:spcPct val="105000"/>
              </a:lnSpc>
              <a:spcBef>
                <a:spcPts val="0"/>
              </a:spcBef>
              <a:spcAft>
                <a:spcPts val="600"/>
              </a:spcAft>
            </a:pPr>
            <a:r>
              <a:rPr sz="1400" b="1">
                <a:solidFill>
                  <a:srgbClr val="1FA97D"/>
                </a:solidFill>
                <a:latin typeface="Calibri"/>
              </a:rPr>
              <a:t>RESULT · ROBUSTNESS</a:t>
            </a:r>
          </a:p>
        </p:txBody>
      </p:sp>
      <p:sp>
        <p:nvSpPr>
          <p:cNvPr id="4" name="TextBox 3"/>
          <p:cNvSpPr txBox="1"/>
          <p:nvPr/>
        </p:nvSpPr>
        <p:spPr>
          <a:xfrm>
            <a:off x="640080" y="841248"/>
            <a:ext cx="10972800" cy="914400"/>
          </a:xfrm>
          <a:prstGeom prst="rect">
            <a:avLst/>
          </a:prstGeom>
          <a:noFill/>
        </p:spPr>
        <p:txBody>
          <a:bodyPr wrap="square" anchor="t" lIns="0" rIns="0" tIns="0" bIns="0">
            <a:spAutoFit/>
          </a:bodyPr>
          <a:lstStyle/>
          <a:p>
            <a:pPr algn="l">
              <a:lnSpc>
                <a:spcPct val="100000"/>
              </a:lnSpc>
              <a:spcBef>
                <a:spcPts val="0"/>
              </a:spcBef>
              <a:spcAft>
                <a:spcPts val="600"/>
              </a:spcAft>
            </a:pPr>
            <a:r>
              <a:rPr sz="3000" b="1">
                <a:solidFill>
                  <a:srgbClr val="1A2238"/>
                </a:solidFill>
                <a:latin typeface="Calibri"/>
              </a:rPr>
              <a:t>The mark survives the edits that matter</a:t>
            </a:r>
          </a:p>
        </p:txBody>
      </p:sp>
      <p:pic>
        <p:nvPicPr>
          <p:cNvPr id="5" name="Picture 4" descr="chart_lift.png"/>
          <p:cNvPicPr>
            <a:picLocks noChangeAspect="1"/>
          </p:cNvPicPr>
          <p:nvPr/>
        </p:nvPicPr>
        <p:blipFill>
          <a:blip r:embed="rId2"/>
          <a:stretch>
            <a:fillRect/>
          </a:stretch>
        </p:blipFill>
        <p:spPr>
          <a:xfrm>
            <a:off x="640080" y="1783080"/>
            <a:ext cx="7955279" cy="3663128"/>
          </a:xfrm>
          <a:prstGeom prst="rect">
            <a:avLst/>
          </a:prstGeom>
        </p:spPr>
      </p:pic>
      <p:sp>
        <p:nvSpPr>
          <p:cNvPr id="6" name="TextBox 5"/>
          <p:cNvSpPr txBox="1"/>
          <p:nvPr/>
        </p:nvSpPr>
        <p:spPr>
          <a:xfrm>
            <a:off x="8915400" y="2103120"/>
            <a:ext cx="2743200" cy="3657600"/>
          </a:xfrm>
          <a:prstGeom prst="rect">
            <a:avLst/>
          </a:prstGeom>
          <a:noFill/>
        </p:spPr>
        <p:txBody>
          <a:bodyPr wrap="square" lIns="0" rIns="0" tIns="0" bIns="0">
            <a:spAutoFit/>
          </a:bodyPr>
          <a:lstStyle/>
          <a:p>
            <a:pPr>
              <a:lnSpc>
                <a:spcPct val="107000"/>
              </a:lnSpc>
              <a:spcBef>
                <a:spcPts val="0"/>
              </a:spcBef>
              <a:spcAft>
                <a:spcPts val="1300"/>
              </a:spcAft>
            </a:pPr>
            <a:r>
              <a:rPr sz="1450" b="1">
                <a:solidFill>
                  <a:srgbClr val="1FA97D"/>
                </a:solidFill>
                <a:latin typeface="Calibri"/>
              </a:rPr>
              <a:t>▪  </a:t>
            </a:r>
            <a:r>
              <a:rPr sz="1450" b="1">
                <a:solidFill>
                  <a:srgbClr val="1A2238"/>
                </a:solidFill>
                <a:latin typeface="Calibri"/>
              </a:rPr>
              <a:t>Geometry is free. </a:t>
            </a:r>
            <a:r>
              <a:rPr sz="1450">
                <a:solidFill>
                  <a:srgbClr val="1A2238"/>
                </a:solidFill>
                <a:latin typeface="Calibri"/>
              </a:rPr>
              <a:t>Rotation and mirroring are fully undone.</a:t>
            </a:r>
          </a:p>
          <a:p>
            <a:pPr>
              <a:lnSpc>
                <a:spcPct val="107000"/>
              </a:lnSpc>
              <a:spcBef>
                <a:spcPts val="0"/>
              </a:spcBef>
              <a:spcAft>
                <a:spcPts val="1300"/>
              </a:spcAft>
            </a:pPr>
            <a:r>
              <a:rPr sz="1450" b="1">
                <a:solidFill>
                  <a:srgbClr val="1FA97D"/>
                </a:solidFill>
                <a:latin typeface="Calibri"/>
              </a:rPr>
              <a:t>▪  </a:t>
            </a:r>
            <a:r>
              <a:rPr sz="1450" b="1">
                <a:solidFill>
                  <a:srgbClr val="1A2238"/>
                </a:solidFill>
                <a:latin typeface="Calibri"/>
              </a:rPr>
              <a:t>Lossy edits survive. </a:t>
            </a:r>
            <a:r>
              <a:rPr sz="1450">
                <a:solidFill>
                  <a:srgbClr val="1A2238"/>
                </a:solidFill>
                <a:latin typeface="Calibri"/>
              </a:rPr>
              <a:t>JPEG, blur and noise all recover strongly.</a:t>
            </a:r>
          </a:p>
          <a:p>
            <a:pPr>
              <a:lnSpc>
                <a:spcPct val="107000"/>
              </a:lnSpc>
              <a:spcBef>
                <a:spcPts val="0"/>
              </a:spcBef>
              <a:spcAft>
                <a:spcPts val="1300"/>
              </a:spcAft>
            </a:pPr>
            <a:r>
              <a:rPr sz="1450" b="1">
                <a:solidFill>
                  <a:srgbClr val="1FA97D"/>
                </a:solidFill>
                <a:latin typeface="Calibri"/>
              </a:rPr>
              <a:t>▪  </a:t>
            </a:r>
            <a:r>
              <a:rPr sz="1450" b="1">
                <a:solidFill>
                  <a:srgbClr val="1A2238"/>
                </a:solidFill>
                <a:latin typeface="Calibri"/>
              </a:rPr>
              <a:t>Higher = better. </a:t>
            </a:r>
            <a:r>
              <a:rPr sz="1450">
                <a:solidFill>
                  <a:srgbClr val="1A2238"/>
                </a:solidFill>
                <a:latin typeface="Calibri"/>
              </a:rPr>
              <a:t>Each bar is real recovery above the no-mark baseline.</a:t>
            </a:r>
          </a:p>
        </p:txBody>
      </p:sp>
      <p:sp>
        <p:nvSpPr>
          <p:cNvPr id="7" name="TextBox 6"/>
          <p:cNvSpPr txBox="1"/>
          <p:nvPr/>
        </p:nvSpPr>
        <p:spPr>
          <a:xfrm>
            <a:off x="640080" y="6455664"/>
            <a:ext cx="4572000" cy="274320"/>
          </a:xfrm>
          <a:prstGeom prst="rect">
            <a:avLst/>
          </a:prstGeom>
          <a:noFill/>
        </p:spPr>
        <p:txBody>
          <a:bodyPr wrap="square" anchor="t" lIns="0" rIns="0" tIns="0" bIns="0">
            <a:spAutoFit/>
          </a:bodyPr>
          <a:lstStyle/>
          <a:p>
            <a:pPr algn="l">
              <a:lnSpc>
                <a:spcPct val="105000"/>
              </a:lnSpc>
              <a:spcBef>
                <a:spcPts val="0"/>
              </a:spcBef>
              <a:spcAft>
                <a:spcPts val="600"/>
              </a:spcAft>
            </a:pPr>
            <a:r>
              <a:rPr sz="1000" b="1">
                <a:solidFill>
                  <a:srgbClr val="5A6473"/>
                </a:solidFill>
                <a:latin typeface="Calibri"/>
              </a:rPr>
              <a:t>Invisign</a:t>
            </a:r>
            <a:r>
              <a:rPr sz="1000" b="0">
                <a:solidFill>
                  <a:srgbClr val="5A6473"/>
                </a:solidFill>
                <a:latin typeface="Calibri"/>
              </a:rPr>
              <a:t>  ·  Capstone defense</a:t>
            </a:r>
          </a:p>
        </p:txBody>
      </p:sp>
      <p:sp>
        <p:nvSpPr>
          <p:cNvPr id="8" name="TextBox 7"/>
          <p:cNvSpPr txBox="1"/>
          <p:nvPr/>
        </p:nvSpPr>
        <p:spPr>
          <a:xfrm>
            <a:off x="10881360" y="6455664"/>
            <a:ext cx="91440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a:solidFill>
                  <a:srgbClr val="5A6473"/>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566928"/>
            <a:ext cx="502920" cy="82296"/>
          </a:xfrm>
          <a:prstGeom prst="rect">
            <a:avLst/>
          </a:prstGeom>
          <a:solidFill>
            <a:srgbClr val="1FA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0160" y="411480"/>
            <a:ext cx="9144000" cy="365760"/>
          </a:xfrm>
          <a:prstGeom prst="rect">
            <a:avLst/>
          </a:prstGeom>
          <a:noFill/>
        </p:spPr>
        <p:txBody>
          <a:bodyPr wrap="square" anchor="t" lIns="0" rIns="0" tIns="0" bIns="0">
            <a:spAutoFit/>
          </a:bodyPr>
          <a:lstStyle/>
          <a:p>
            <a:pPr algn="l">
              <a:lnSpc>
                <a:spcPct val="105000"/>
              </a:lnSpc>
              <a:spcBef>
                <a:spcPts val="0"/>
              </a:spcBef>
              <a:spcAft>
                <a:spcPts val="600"/>
              </a:spcAft>
            </a:pPr>
            <a:r>
              <a:rPr sz="1400" b="1">
                <a:solidFill>
                  <a:srgbClr val="1FA97D"/>
                </a:solidFill>
                <a:latin typeface="Calibri"/>
              </a:rPr>
              <a:t>WHY THE CLEVER METHOD</a:t>
            </a:r>
          </a:p>
        </p:txBody>
      </p:sp>
      <p:sp>
        <p:nvSpPr>
          <p:cNvPr id="4" name="TextBox 3"/>
          <p:cNvSpPr txBox="1"/>
          <p:nvPr/>
        </p:nvSpPr>
        <p:spPr>
          <a:xfrm>
            <a:off x="640080" y="841248"/>
            <a:ext cx="10972800" cy="914400"/>
          </a:xfrm>
          <a:prstGeom prst="rect">
            <a:avLst/>
          </a:prstGeom>
          <a:noFill/>
        </p:spPr>
        <p:txBody>
          <a:bodyPr wrap="square" anchor="t" lIns="0" rIns="0" tIns="0" bIns="0">
            <a:spAutoFit/>
          </a:bodyPr>
          <a:lstStyle/>
          <a:p>
            <a:pPr algn="l">
              <a:lnSpc>
                <a:spcPct val="100000"/>
              </a:lnSpc>
              <a:spcBef>
                <a:spcPts val="0"/>
              </a:spcBef>
              <a:spcAft>
                <a:spcPts val="600"/>
              </a:spcAft>
            </a:pPr>
            <a:r>
              <a:rPr sz="3000" b="1">
                <a:solidFill>
                  <a:srgbClr val="1A2238"/>
                </a:solidFill>
                <a:latin typeface="Calibri"/>
              </a:rPr>
              <a:t>Why not just paste the mark on?</a:t>
            </a:r>
          </a:p>
        </p:txBody>
      </p:sp>
      <p:sp>
        <p:nvSpPr>
          <p:cNvPr id="5" name="TextBox 4"/>
          <p:cNvSpPr txBox="1"/>
          <p:nvPr/>
        </p:nvSpPr>
        <p:spPr>
          <a:xfrm>
            <a:off x="640080" y="1554480"/>
            <a:ext cx="10972800" cy="640080"/>
          </a:xfrm>
          <a:prstGeom prst="rect">
            <a:avLst/>
          </a:prstGeom>
          <a:noFill/>
        </p:spPr>
        <p:txBody>
          <a:bodyPr wrap="square" anchor="t" lIns="0" rIns="0" tIns="0" bIns="0">
            <a:spAutoFit/>
          </a:bodyPr>
          <a:lstStyle/>
          <a:p>
            <a:pPr algn="l">
              <a:lnSpc>
                <a:spcPct val="115000"/>
              </a:lnSpc>
              <a:spcBef>
                <a:spcPts val="0"/>
              </a:spcBef>
              <a:spcAft>
                <a:spcPts val="600"/>
              </a:spcAft>
            </a:pPr>
            <a:r>
              <a:rPr sz="1650" b="0">
                <a:solidFill>
                  <a:srgbClr val="5A6473"/>
                </a:solidFill>
                <a:latin typeface="Calibri"/>
              </a:rPr>
              <a:t>A leaked image is almost never pristine — it has been re-compressed, resized and blurred. That's exactly where simpler tricks fall apart and the SVD mark pulls ahead.</a:t>
            </a:r>
          </a:p>
        </p:txBody>
      </p:sp>
      <p:pic>
        <p:nvPicPr>
          <p:cNvPr id="6" name="Picture 5" descr="chart_baseline.png"/>
          <p:cNvPicPr>
            <a:picLocks noChangeAspect="1"/>
          </p:cNvPicPr>
          <p:nvPr/>
        </p:nvPicPr>
        <p:blipFill>
          <a:blip r:embed="rId2"/>
          <a:stretch>
            <a:fillRect/>
          </a:stretch>
        </p:blipFill>
        <p:spPr>
          <a:xfrm>
            <a:off x="640080" y="2514600"/>
            <a:ext cx="7863840" cy="3621024"/>
          </a:xfrm>
          <a:prstGeom prst="rect">
            <a:avLst/>
          </a:prstGeom>
        </p:spPr>
      </p:pic>
      <p:sp>
        <p:nvSpPr>
          <p:cNvPr id="7" name="Rounded Rectangle 6"/>
          <p:cNvSpPr/>
          <p:nvPr/>
        </p:nvSpPr>
        <p:spPr>
          <a:xfrm>
            <a:off x="8732520" y="2697480"/>
            <a:ext cx="2834640" cy="3108960"/>
          </a:xfrm>
          <a:prstGeom prst="roundRect">
            <a:avLst>
              <a:gd name="adj" fmla="val 7000"/>
            </a:avLst>
          </a:prstGeom>
          <a:solidFill>
            <a:srgbClr val="EC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0" y="2971800"/>
            <a:ext cx="2423160" cy="2743200"/>
          </a:xfrm>
          <a:prstGeom prst="rect">
            <a:avLst/>
          </a:prstGeom>
          <a:noFill/>
        </p:spPr>
        <p:txBody>
          <a:bodyPr wrap="square" anchor="t" lIns="0" rIns="0" tIns="0" bIns="0">
            <a:spAutoFit/>
          </a:bodyPr>
          <a:lstStyle/>
          <a:p>
            <a:pPr algn="l">
              <a:lnSpc>
                <a:spcPct val="120000"/>
              </a:lnSpc>
              <a:spcBef>
                <a:spcPts val="0"/>
              </a:spcBef>
              <a:spcAft>
                <a:spcPts val="200"/>
              </a:spcAft>
            </a:pPr>
            <a:r>
              <a:rPr sz="1700" b="1">
                <a:solidFill>
                  <a:srgbClr val="1A2238"/>
                </a:solidFill>
                <a:latin typeface="Calibri"/>
              </a:rPr>
              <a:t>The takeaway</a:t>
            </a:r>
          </a:p>
          <a:p>
            <a:pPr algn="l">
              <a:lnSpc>
                <a:spcPct val="120000"/>
              </a:lnSpc>
              <a:spcBef>
                <a:spcPts val="0"/>
              </a:spcBef>
              <a:spcAft>
                <a:spcPts val="200"/>
              </a:spcAft>
            </a:pPr>
            <a:r>
              <a:rPr sz="600" b="0">
                <a:solidFill>
                  <a:srgbClr val="1A2238"/>
                </a:solidFill>
                <a:latin typeface="Calibri"/>
              </a:rPr>
              <a:t/>
            </a:r>
          </a:p>
          <a:p>
            <a:pPr algn="l">
              <a:lnSpc>
                <a:spcPct val="120000"/>
              </a:lnSpc>
              <a:spcBef>
                <a:spcPts val="0"/>
              </a:spcBef>
              <a:spcAft>
                <a:spcPts val="200"/>
              </a:spcAft>
            </a:pPr>
            <a:r>
              <a:rPr sz="1450" b="0">
                <a:solidFill>
                  <a:srgbClr val="1A2238"/>
                </a:solidFill>
                <a:latin typeface="Calibri"/>
              </a:rPr>
              <a:t>On the distortions a real leak goes through, Invisign recovers the mark when the simple approaches can't.</a:t>
            </a:r>
          </a:p>
        </p:txBody>
      </p:sp>
      <p:sp>
        <p:nvSpPr>
          <p:cNvPr id="9" name="TextBox 8"/>
          <p:cNvSpPr txBox="1"/>
          <p:nvPr/>
        </p:nvSpPr>
        <p:spPr>
          <a:xfrm>
            <a:off x="640080" y="6455664"/>
            <a:ext cx="4572000" cy="274320"/>
          </a:xfrm>
          <a:prstGeom prst="rect">
            <a:avLst/>
          </a:prstGeom>
          <a:noFill/>
        </p:spPr>
        <p:txBody>
          <a:bodyPr wrap="square" anchor="t" lIns="0" rIns="0" tIns="0" bIns="0">
            <a:spAutoFit/>
          </a:bodyPr>
          <a:lstStyle/>
          <a:p>
            <a:pPr algn="l">
              <a:lnSpc>
                <a:spcPct val="105000"/>
              </a:lnSpc>
              <a:spcBef>
                <a:spcPts val="0"/>
              </a:spcBef>
              <a:spcAft>
                <a:spcPts val="600"/>
              </a:spcAft>
            </a:pPr>
            <a:r>
              <a:rPr sz="1000" b="1">
                <a:solidFill>
                  <a:srgbClr val="5A6473"/>
                </a:solidFill>
                <a:latin typeface="Calibri"/>
              </a:rPr>
              <a:t>Invisign</a:t>
            </a:r>
            <a:r>
              <a:rPr sz="1000" b="0">
                <a:solidFill>
                  <a:srgbClr val="5A6473"/>
                </a:solidFill>
                <a:latin typeface="Calibri"/>
              </a:rPr>
              <a:t>  ·  Capstone defense</a:t>
            </a:r>
          </a:p>
        </p:txBody>
      </p:sp>
      <p:sp>
        <p:nvSpPr>
          <p:cNvPr id="10" name="TextBox 9"/>
          <p:cNvSpPr txBox="1"/>
          <p:nvPr/>
        </p:nvSpPr>
        <p:spPr>
          <a:xfrm>
            <a:off x="10881360" y="6455664"/>
            <a:ext cx="91440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a:solidFill>
                  <a:srgbClr val="5A6473"/>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566928"/>
            <a:ext cx="502920"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0160" y="411480"/>
            <a:ext cx="9144000" cy="365760"/>
          </a:xfrm>
          <a:prstGeom prst="rect">
            <a:avLst/>
          </a:prstGeom>
          <a:noFill/>
        </p:spPr>
        <p:txBody>
          <a:bodyPr wrap="square" anchor="t" lIns="0" rIns="0" tIns="0" bIns="0">
            <a:spAutoFit/>
          </a:bodyPr>
          <a:lstStyle/>
          <a:p>
            <a:pPr algn="l">
              <a:lnSpc>
                <a:spcPct val="105000"/>
              </a:lnSpc>
              <a:spcBef>
                <a:spcPts val="0"/>
              </a:spcBef>
              <a:spcAft>
                <a:spcPts val="600"/>
              </a:spcAft>
            </a:pPr>
            <a:r>
              <a:rPr sz="1400" b="1">
                <a:solidFill>
                  <a:srgbClr val="2E86AB"/>
                </a:solidFill>
                <a:latin typeface="Calibri"/>
              </a:rPr>
              <a:t>THE SYSTEM</a:t>
            </a:r>
          </a:p>
        </p:txBody>
      </p:sp>
      <p:sp>
        <p:nvSpPr>
          <p:cNvPr id="4" name="TextBox 3"/>
          <p:cNvSpPr txBox="1"/>
          <p:nvPr/>
        </p:nvSpPr>
        <p:spPr>
          <a:xfrm>
            <a:off x="640080" y="841248"/>
            <a:ext cx="10972800" cy="914400"/>
          </a:xfrm>
          <a:prstGeom prst="rect">
            <a:avLst/>
          </a:prstGeom>
          <a:noFill/>
        </p:spPr>
        <p:txBody>
          <a:bodyPr wrap="square" anchor="t" lIns="0" rIns="0" tIns="0" bIns="0">
            <a:spAutoFit/>
          </a:bodyPr>
          <a:lstStyle/>
          <a:p>
            <a:pPr algn="l">
              <a:lnSpc>
                <a:spcPct val="100000"/>
              </a:lnSpc>
              <a:spcBef>
                <a:spcPts val="0"/>
              </a:spcBef>
              <a:spcAft>
                <a:spcPts val="600"/>
              </a:spcAft>
            </a:pPr>
            <a:r>
              <a:rPr sz="3000" b="1">
                <a:solidFill>
                  <a:srgbClr val="1A2238"/>
                </a:solidFill>
                <a:latin typeface="Calibri"/>
              </a:rPr>
              <a:t>A complete, working web application</a:t>
            </a:r>
          </a:p>
        </p:txBody>
      </p:sp>
      <p:sp>
        <p:nvSpPr>
          <p:cNvPr id="5" name="Rounded Rectangle 4"/>
          <p:cNvSpPr/>
          <p:nvPr/>
        </p:nvSpPr>
        <p:spPr>
          <a:xfrm>
            <a:off x="640080" y="2011680"/>
            <a:ext cx="2615184" cy="2377440"/>
          </a:xfrm>
          <a:prstGeom prst="roundRect">
            <a:avLst>
              <a:gd name="adj" fmla="val 7000"/>
            </a:avLst>
          </a:prstGeom>
          <a:solidFill>
            <a:srgbClr val="F5F7FA"/>
          </a:solidFill>
          <a:ln>
            <a:noFill/>
          </a:ln>
          <a:effectLst/>
          <a:effectLst>
            <a:outerShdw blurRad="80000" dist="30000" dir="5400000" rotWithShape="0">
              <a:srgbClr val="1A2238">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2011680"/>
            <a:ext cx="2615184" cy="128016"/>
          </a:xfrm>
          <a:prstGeom prst="rect">
            <a:avLst/>
          </a:prstGeom>
          <a:solidFill>
            <a:srgbClr val="1FA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423160"/>
            <a:ext cx="2103120" cy="822960"/>
          </a:xfrm>
          <a:prstGeom prst="rect">
            <a:avLst/>
          </a:prstGeom>
          <a:noFill/>
        </p:spPr>
        <p:txBody>
          <a:bodyPr wrap="square" anchor="t" lIns="0" rIns="0" tIns="0" bIns="0">
            <a:spAutoFit/>
          </a:bodyPr>
          <a:lstStyle/>
          <a:p>
            <a:pPr algn="l">
              <a:lnSpc>
                <a:spcPct val="100000"/>
              </a:lnSpc>
              <a:spcBef>
                <a:spcPts val="0"/>
              </a:spcBef>
              <a:spcAft>
                <a:spcPts val="600"/>
              </a:spcAft>
            </a:pPr>
            <a:r>
              <a:rPr sz="1700" b="1">
                <a:solidFill>
                  <a:srgbClr val="1A2238"/>
                </a:solidFill>
                <a:latin typeface="Calibri"/>
              </a:rPr>
              <a:t>React frontend</a:t>
            </a:r>
          </a:p>
        </p:txBody>
      </p:sp>
      <p:sp>
        <p:nvSpPr>
          <p:cNvPr id="8" name="TextBox 7"/>
          <p:cNvSpPr txBox="1"/>
          <p:nvPr/>
        </p:nvSpPr>
        <p:spPr>
          <a:xfrm>
            <a:off x="914400" y="3154680"/>
            <a:ext cx="2103120" cy="1097280"/>
          </a:xfrm>
          <a:prstGeom prst="rect">
            <a:avLst/>
          </a:prstGeom>
          <a:noFill/>
        </p:spPr>
        <p:txBody>
          <a:bodyPr wrap="square" anchor="t" lIns="0" rIns="0" tIns="0" bIns="0">
            <a:spAutoFit/>
          </a:bodyPr>
          <a:lstStyle/>
          <a:p>
            <a:pPr algn="l">
              <a:lnSpc>
                <a:spcPct val="113000"/>
              </a:lnSpc>
              <a:spcBef>
                <a:spcPts val="0"/>
              </a:spcBef>
              <a:spcAft>
                <a:spcPts val="600"/>
              </a:spcAft>
            </a:pPr>
            <a:r>
              <a:rPr sz="1350" b="0">
                <a:solidFill>
                  <a:srgbClr val="5A6473"/>
                </a:solidFill>
                <a:latin typeface="Calibri"/>
              </a:rPr>
              <a:t>Upload, engrave, extract and review results in a dashboard.</a:t>
            </a:r>
          </a:p>
        </p:txBody>
      </p:sp>
      <p:sp>
        <p:nvSpPr>
          <p:cNvPr id="9" name="TextBox 8"/>
          <p:cNvSpPr txBox="1"/>
          <p:nvPr/>
        </p:nvSpPr>
        <p:spPr>
          <a:xfrm>
            <a:off x="3236976" y="2926080"/>
            <a:ext cx="274320" cy="457200"/>
          </a:xfrm>
          <a:prstGeom prst="rect">
            <a:avLst/>
          </a:prstGeom>
          <a:noFill/>
        </p:spPr>
        <p:txBody>
          <a:bodyPr wrap="square" anchor="t" lIns="0" rIns="0" tIns="0" bIns="0">
            <a:spAutoFit/>
          </a:bodyPr>
          <a:lstStyle/>
          <a:p>
            <a:pPr algn="ctr">
              <a:lnSpc>
                <a:spcPct val="105000"/>
              </a:lnSpc>
              <a:spcBef>
                <a:spcPts val="0"/>
              </a:spcBef>
              <a:spcAft>
                <a:spcPts val="600"/>
              </a:spcAft>
            </a:pPr>
            <a:r>
              <a:rPr sz="2200" b="1">
                <a:solidFill>
                  <a:srgbClr val="5A6473"/>
                </a:solidFill>
                <a:latin typeface="Calibri"/>
              </a:rPr>
              <a:t>→</a:t>
            </a:r>
          </a:p>
        </p:txBody>
      </p:sp>
      <p:sp>
        <p:nvSpPr>
          <p:cNvPr id="10" name="Rounded Rectangle 9"/>
          <p:cNvSpPr/>
          <p:nvPr/>
        </p:nvSpPr>
        <p:spPr>
          <a:xfrm>
            <a:off x="3465576" y="2011680"/>
            <a:ext cx="2615184" cy="2377440"/>
          </a:xfrm>
          <a:prstGeom prst="roundRect">
            <a:avLst>
              <a:gd name="adj" fmla="val 7000"/>
            </a:avLst>
          </a:prstGeom>
          <a:solidFill>
            <a:srgbClr val="F5F7FA"/>
          </a:solidFill>
          <a:ln>
            <a:noFill/>
          </a:ln>
          <a:effectLst/>
          <a:effectLst>
            <a:outerShdw blurRad="80000" dist="30000" dir="5400000" rotWithShape="0">
              <a:srgbClr val="1A2238">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65576" y="2011680"/>
            <a:ext cx="2615184" cy="12801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39896" y="2423160"/>
            <a:ext cx="2103120" cy="822960"/>
          </a:xfrm>
          <a:prstGeom prst="rect">
            <a:avLst/>
          </a:prstGeom>
          <a:noFill/>
        </p:spPr>
        <p:txBody>
          <a:bodyPr wrap="square" anchor="t" lIns="0" rIns="0" tIns="0" bIns="0">
            <a:spAutoFit/>
          </a:bodyPr>
          <a:lstStyle/>
          <a:p>
            <a:pPr algn="l">
              <a:lnSpc>
                <a:spcPct val="100000"/>
              </a:lnSpc>
              <a:spcBef>
                <a:spcPts val="0"/>
              </a:spcBef>
              <a:spcAft>
                <a:spcPts val="600"/>
              </a:spcAft>
            </a:pPr>
            <a:r>
              <a:rPr sz="1700" b="1">
                <a:solidFill>
                  <a:srgbClr val="1A2238"/>
                </a:solidFill>
                <a:latin typeface="Calibri"/>
              </a:rPr>
              <a:t>Laravel API</a:t>
            </a:r>
          </a:p>
        </p:txBody>
      </p:sp>
      <p:sp>
        <p:nvSpPr>
          <p:cNvPr id="13" name="TextBox 12"/>
          <p:cNvSpPr txBox="1"/>
          <p:nvPr/>
        </p:nvSpPr>
        <p:spPr>
          <a:xfrm>
            <a:off x="3739896" y="3154680"/>
            <a:ext cx="2103120" cy="1097280"/>
          </a:xfrm>
          <a:prstGeom prst="rect">
            <a:avLst/>
          </a:prstGeom>
          <a:noFill/>
        </p:spPr>
        <p:txBody>
          <a:bodyPr wrap="square" anchor="t" lIns="0" rIns="0" tIns="0" bIns="0">
            <a:spAutoFit/>
          </a:bodyPr>
          <a:lstStyle/>
          <a:p>
            <a:pPr algn="l">
              <a:lnSpc>
                <a:spcPct val="113000"/>
              </a:lnSpc>
              <a:spcBef>
                <a:spcPts val="0"/>
              </a:spcBef>
              <a:spcAft>
                <a:spcPts val="600"/>
              </a:spcAft>
            </a:pPr>
            <a:r>
              <a:rPr sz="1350" b="0">
                <a:solidFill>
                  <a:srgbClr val="5A6473"/>
                </a:solidFill>
                <a:latin typeface="Calibri"/>
              </a:rPr>
              <a:t>Accounts, file storage and orchestration of the workflow.</a:t>
            </a:r>
          </a:p>
        </p:txBody>
      </p:sp>
      <p:sp>
        <p:nvSpPr>
          <p:cNvPr id="14" name="TextBox 13"/>
          <p:cNvSpPr txBox="1"/>
          <p:nvPr/>
        </p:nvSpPr>
        <p:spPr>
          <a:xfrm>
            <a:off x="6062472" y="2926080"/>
            <a:ext cx="274320" cy="457200"/>
          </a:xfrm>
          <a:prstGeom prst="rect">
            <a:avLst/>
          </a:prstGeom>
          <a:noFill/>
        </p:spPr>
        <p:txBody>
          <a:bodyPr wrap="square" anchor="t" lIns="0" rIns="0" tIns="0" bIns="0">
            <a:spAutoFit/>
          </a:bodyPr>
          <a:lstStyle/>
          <a:p>
            <a:pPr algn="ctr">
              <a:lnSpc>
                <a:spcPct val="105000"/>
              </a:lnSpc>
              <a:spcBef>
                <a:spcPts val="0"/>
              </a:spcBef>
              <a:spcAft>
                <a:spcPts val="600"/>
              </a:spcAft>
            </a:pPr>
            <a:r>
              <a:rPr sz="2200" b="1">
                <a:solidFill>
                  <a:srgbClr val="5A6473"/>
                </a:solidFill>
                <a:latin typeface="Calibri"/>
              </a:rPr>
              <a:t>→</a:t>
            </a:r>
          </a:p>
        </p:txBody>
      </p:sp>
      <p:sp>
        <p:nvSpPr>
          <p:cNvPr id="15" name="Rounded Rectangle 14"/>
          <p:cNvSpPr/>
          <p:nvPr/>
        </p:nvSpPr>
        <p:spPr>
          <a:xfrm>
            <a:off x="6291072" y="2011680"/>
            <a:ext cx="2615184" cy="2377440"/>
          </a:xfrm>
          <a:prstGeom prst="roundRect">
            <a:avLst>
              <a:gd name="adj" fmla="val 7000"/>
            </a:avLst>
          </a:prstGeom>
          <a:solidFill>
            <a:srgbClr val="F5F7FA"/>
          </a:solidFill>
          <a:ln>
            <a:noFill/>
          </a:ln>
          <a:effectLst/>
          <a:effectLst>
            <a:outerShdw blurRad="80000" dist="30000" dir="5400000" rotWithShape="0">
              <a:srgbClr val="1A2238">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91072" y="2011680"/>
            <a:ext cx="2615184" cy="128016"/>
          </a:xfrm>
          <a:prstGeom prst="rect">
            <a:avLst/>
          </a:prstGeom>
          <a:solidFill>
            <a:srgbClr val="1A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65392" y="2423160"/>
            <a:ext cx="2103120" cy="822960"/>
          </a:xfrm>
          <a:prstGeom prst="rect">
            <a:avLst/>
          </a:prstGeom>
          <a:noFill/>
        </p:spPr>
        <p:txBody>
          <a:bodyPr wrap="square" anchor="t" lIns="0" rIns="0" tIns="0" bIns="0">
            <a:spAutoFit/>
          </a:bodyPr>
          <a:lstStyle/>
          <a:p>
            <a:pPr algn="l">
              <a:lnSpc>
                <a:spcPct val="100000"/>
              </a:lnSpc>
              <a:spcBef>
                <a:spcPts val="0"/>
              </a:spcBef>
              <a:spcAft>
                <a:spcPts val="600"/>
              </a:spcAft>
            </a:pPr>
            <a:r>
              <a:rPr sz="1700" b="1">
                <a:solidFill>
                  <a:srgbClr val="1A2238"/>
                </a:solidFill>
                <a:latin typeface="Calibri"/>
              </a:rPr>
              <a:t>Python service</a:t>
            </a:r>
          </a:p>
        </p:txBody>
      </p:sp>
      <p:sp>
        <p:nvSpPr>
          <p:cNvPr id="18" name="TextBox 17"/>
          <p:cNvSpPr txBox="1"/>
          <p:nvPr/>
        </p:nvSpPr>
        <p:spPr>
          <a:xfrm>
            <a:off x="6565392" y="3154680"/>
            <a:ext cx="2103120" cy="1097280"/>
          </a:xfrm>
          <a:prstGeom prst="rect">
            <a:avLst/>
          </a:prstGeom>
          <a:noFill/>
        </p:spPr>
        <p:txBody>
          <a:bodyPr wrap="square" anchor="t" lIns="0" rIns="0" tIns="0" bIns="0">
            <a:spAutoFit/>
          </a:bodyPr>
          <a:lstStyle/>
          <a:p>
            <a:pPr algn="l">
              <a:lnSpc>
                <a:spcPct val="113000"/>
              </a:lnSpc>
              <a:spcBef>
                <a:spcPts val="0"/>
              </a:spcBef>
              <a:spcAft>
                <a:spcPts val="600"/>
              </a:spcAft>
            </a:pPr>
            <a:r>
              <a:rPr sz="1350" b="0">
                <a:solidFill>
                  <a:srgbClr val="5A6473"/>
                </a:solidFill>
                <a:latin typeface="Calibri"/>
              </a:rPr>
              <a:t>The stateless watermarking engine — embed and extract.</a:t>
            </a:r>
          </a:p>
        </p:txBody>
      </p:sp>
      <p:sp>
        <p:nvSpPr>
          <p:cNvPr id="19" name="TextBox 18"/>
          <p:cNvSpPr txBox="1"/>
          <p:nvPr/>
        </p:nvSpPr>
        <p:spPr>
          <a:xfrm>
            <a:off x="8887968" y="2926080"/>
            <a:ext cx="274320" cy="457200"/>
          </a:xfrm>
          <a:prstGeom prst="rect">
            <a:avLst/>
          </a:prstGeom>
          <a:noFill/>
        </p:spPr>
        <p:txBody>
          <a:bodyPr wrap="square" anchor="t" lIns="0" rIns="0" tIns="0" bIns="0">
            <a:spAutoFit/>
          </a:bodyPr>
          <a:lstStyle/>
          <a:p>
            <a:pPr algn="ctr">
              <a:lnSpc>
                <a:spcPct val="105000"/>
              </a:lnSpc>
              <a:spcBef>
                <a:spcPts val="0"/>
              </a:spcBef>
              <a:spcAft>
                <a:spcPts val="600"/>
              </a:spcAft>
            </a:pPr>
            <a:r>
              <a:rPr sz="2200" b="1">
                <a:solidFill>
                  <a:srgbClr val="5A6473"/>
                </a:solidFill>
                <a:latin typeface="Calibri"/>
              </a:rPr>
              <a:t>→</a:t>
            </a:r>
          </a:p>
        </p:txBody>
      </p:sp>
      <p:sp>
        <p:nvSpPr>
          <p:cNvPr id="20" name="Rounded Rectangle 19"/>
          <p:cNvSpPr/>
          <p:nvPr/>
        </p:nvSpPr>
        <p:spPr>
          <a:xfrm>
            <a:off x="9116568" y="2011680"/>
            <a:ext cx="2615184" cy="2377440"/>
          </a:xfrm>
          <a:prstGeom prst="roundRect">
            <a:avLst>
              <a:gd name="adj" fmla="val 7000"/>
            </a:avLst>
          </a:prstGeom>
          <a:solidFill>
            <a:srgbClr val="F5F7FA"/>
          </a:solidFill>
          <a:ln>
            <a:noFill/>
          </a:ln>
          <a:effectLst/>
          <a:effectLst>
            <a:outerShdw blurRad="80000" dist="30000" dir="5400000" rotWithShape="0">
              <a:srgbClr val="1A2238">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16568" y="2011680"/>
            <a:ext cx="2615184" cy="128016"/>
          </a:xfrm>
          <a:prstGeom prst="rect">
            <a:avLst/>
          </a:prstGeom>
          <a:solidFill>
            <a:srgbClr val="5A6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90888" y="2423160"/>
            <a:ext cx="2103120" cy="822960"/>
          </a:xfrm>
          <a:prstGeom prst="rect">
            <a:avLst/>
          </a:prstGeom>
          <a:noFill/>
        </p:spPr>
        <p:txBody>
          <a:bodyPr wrap="square" anchor="t" lIns="0" rIns="0" tIns="0" bIns="0">
            <a:spAutoFit/>
          </a:bodyPr>
          <a:lstStyle/>
          <a:p>
            <a:pPr algn="l">
              <a:lnSpc>
                <a:spcPct val="100000"/>
              </a:lnSpc>
              <a:spcBef>
                <a:spcPts val="0"/>
              </a:spcBef>
              <a:spcAft>
                <a:spcPts val="600"/>
              </a:spcAft>
            </a:pPr>
            <a:r>
              <a:rPr sz="1700" b="1">
                <a:solidFill>
                  <a:srgbClr val="1A2238"/>
                </a:solidFill>
                <a:latin typeface="Calibri"/>
              </a:rPr>
              <a:t>MariaDB</a:t>
            </a:r>
          </a:p>
        </p:txBody>
      </p:sp>
      <p:sp>
        <p:nvSpPr>
          <p:cNvPr id="23" name="TextBox 22"/>
          <p:cNvSpPr txBox="1"/>
          <p:nvPr/>
        </p:nvSpPr>
        <p:spPr>
          <a:xfrm>
            <a:off x="9390888" y="3154680"/>
            <a:ext cx="2103120" cy="1097280"/>
          </a:xfrm>
          <a:prstGeom prst="rect">
            <a:avLst/>
          </a:prstGeom>
          <a:noFill/>
        </p:spPr>
        <p:txBody>
          <a:bodyPr wrap="square" anchor="t" lIns="0" rIns="0" tIns="0" bIns="0">
            <a:spAutoFit/>
          </a:bodyPr>
          <a:lstStyle/>
          <a:p>
            <a:pPr algn="l">
              <a:lnSpc>
                <a:spcPct val="113000"/>
              </a:lnSpc>
              <a:spcBef>
                <a:spcPts val="0"/>
              </a:spcBef>
              <a:spcAft>
                <a:spcPts val="600"/>
              </a:spcAft>
            </a:pPr>
            <a:r>
              <a:rPr sz="1350" b="0">
                <a:solidFill>
                  <a:srgbClr val="5A6473"/>
                </a:solidFill>
                <a:latin typeface="Calibri"/>
              </a:rPr>
              <a:t>Users, images, watermarks and job records.</a:t>
            </a:r>
          </a:p>
        </p:txBody>
      </p:sp>
      <p:sp>
        <p:nvSpPr>
          <p:cNvPr id="24" name="TextBox 23"/>
          <p:cNvSpPr txBox="1"/>
          <p:nvPr/>
        </p:nvSpPr>
        <p:spPr>
          <a:xfrm>
            <a:off x="640080" y="4892040"/>
            <a:ext cx="10972800" cy="731520"/>
          </a:xfrm>
          <a:prstGeom prst="rect">
            <a:avLst/>
          </a:prstGeom>
          <a:noFill/>
        </p:spPr>
        <p:txBody>
          <a:bodyPr wrap="square" anchor="t" lIns="0" rIns="0" tIns="0" bIns="0">
            <a:spAutoFit/>
          </a:bodyPr>
          <a:lstStyle/>
          <a:p>
            <a:pPr algn="l">
              <a:lnSpc>
                <a:spcPct val="105000"/>
              </a:lnSpc>
              <a:spcBef>
                <a:spcPts val="0"/>
              </a:spcBef>
              <a:spcAft>
                <a:spcPts val="600"/>
              </a:spcAft>
            </a:pPr>
            <a:r>
              <a:rPr sz="1600" b="1">
                <a:solidFill>
                  <a:srgbClr val="1A2238"/>
                </a:solidFill>
                <a:latin typeface="Calibri"/>
              </a:rPr>
              <a:t>Containerized with Docker Compose — the whole stack comes up with a single command.</a:t>
            </a:r>
          </a:p>
        </p:txBody>
      </p:sp>
      <p:sp>
        <p:nvSpPr>
          <p:cNvPr id="25" name="TextBox 24"/>
          <p:cNvSpPr txBox="1"/>
          <p:nvPr/>
        </p:nvSpPr>
        <p:spPr>
          <a:xfrm>
            <a:off x="640080" y="6455664"/>
            <a:ext cx="4572000" cy="274320"/>
          </a:xfrm>
          <a:prstGeom prst="rect">
            <a:avLst/>
          </a:prstGeom>
          <a:noFill/>
        </p:spPr>
        <p:txBody>
          <a:bodyPr wrap="square" anchor="t" lIns="0" rIns="0" tIns="0" bIns="0">
            <a:spAutoFit/>
          </a:bodyPr>
          <a:lstStyle/>
          <a:p>
            <a:pPr algn="l">
              <a:lnSpc>
                <a:spcPct val="105000"/>
              </a:lnSpc>
              <a:spcBef>
                <a:spcPts val="0"/>
              </a:spcBef>
              <a:spcAft>
                <a:spcPts val="600"/>
              </a:spcAft>
            </a:pPr>
            <a:r>
              <a:rPr sz="1000" b="1">
                <a:solidFill>
                  <a:srgbClr val="5A6473"/>
                </a:solidFill>
                <a:latin typeface="Calibri"/>
              </a:rPr>
              <a:t>Invisign</a:t>
            </a:r>
            <a:r>
              <a:rPr sz="1000" b="0">
                <a:solidFill>
                  <a:srgbClr val="5A6473"/>
                </a:solidFill>
                <a:latin typeface="Calibri"/>
              </a:rPr>
              <a:t>  ·  Capstone defense</a:t>
            </a:r>
          </a:p>
        </p:txBody>
      </p:sp>
      <p:sp>
        <p:nvSpPr>
          <p:cNvPr id="26" name="TextBox 25"/>
          <p:cNvSpPr txBox="1"/>
          <p:nvPr/>
        </p:nvSpPr>
        <p:spPr>
          <a:xfrm>
            <a:off x="10881360" y="6455664"/>
            <a:ext cx="91440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a:solidFill>
                  <a:srgbClr val="5A6473"/>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C33"/>
        </a:solidFill>
        <a:effectLst/>
      </p:bgPr>
    </p:bg>
    <p:spTree>
      <p:nvGrpSpPr>
        <p:cNvPr id="1" name=""/>
        <p:cNvGrpSpPr/>
        <p:nvPr/>
      </p:nvGrpSpPr>
      <p:grpSpPr/>
      <p:sp>
        <p:nvSpPr>
          <p:cNvPr id="2" name="5-Point Star 1"/>
          <p:cNvSpPr/>
          <p:nvPr/>
        </p:nvSpPr>
        <p:spPr>
          <a:xfrm>
            <a:off x="9692640" y="3840480"/>
            <a:ext cx="3108960" cy="3108960"/>
          </a:xfrm>
          <a:prstGeom prst="star5">
            <a:avLst/>
          </a:prstGeom>
          <a:solidFill>
            <a:srgbClr val="20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640080"/>
            <a:ext cx="502920" cy="82296"/>
          </a:xfrm>
          <a:prstGeom prst="rect">
            <a:avLst/>
          </a:prstGeom>
          <a:solidFill>
            <a:srgbClr val="1FA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484632"/>
            <a:ext cx="8229600" cy="365760"/>
          </a:xfrm>
          <a:prstGeom prst="rect">
            <a:avLst/>
          </a:prstGeom>
          <a:noFill/>
        </p:spPr>
        <p:txBody>
          <a:bodyPr wrap="square" anchor="t" lIns="0" rIns="0" tIns="0" bIns="0">
            <a:spAutoFit/>
          </a:bodyPr>
          <a:lstStyle/>
          <a:p>
            <a:pPr algn="l">
              <a:lnSpc>
                <a:spcPct val="105000"/>
              </a:lnSpc>
              <a:spcBef>
                <a:spcPts val="0"/>
              </a:spcBef>
              <a:spcAft>
                <a:spcPts val="600"/>
              </a:spcAft>
            </a:pPr>
            <a:r>
              <a:rPr sz="1400" b="1">
                <a:solidFill>
                  <a:srgbClr val="1FA97D"/>
                </a:solidFill>
                <a:latin typeface="Calibri"/>
              </a:rPr>
              <a:t>LIVE PRODUCT</a:t>
            </a:r>
          </a:p>
        </p:txBody>
      </p:sp>
      <p:sp>
        <p:nvSpPr>
          <p:cNvPr id="5" name="TextBox 4"/>
          <p:cNvSpPr txBox="1"/>
          <p:nvPr/>
        </p:nvSpPr>
        <p:spPr>
          <a:xfrm>
            <a:off x="640080" y="914400"/>
            <a:ext cx="10972800" cy="822960"/>
          </a:xfrm>
          <a:prstGeom prst="rect">
            <a:avLst/>
          </a:prstGeom>
          <a:noFill/>
        </p:spPr>
        <p:txBody>
          <a:bodyPr wrap="square" anchor="t" lIns="0" rIns="0" tIns="0" bIns="0">
            <a:spAutoFit/>
          </a:bodyPr>
          <a:lstStyle/>
          <a:p>
            <a:pPr algn="l">
              <a:lnSpc>
                <a:spcPct val="105000"/>
              </a:lnSpc>
              <a:spcBef>
                <a:spcPts val="0"/>
              </a:spcBef>
              <a:spcAft>
                <a:spcPts val="600"/>
              </a:spcAft>
            </a:pPr>
            <a:r>
              <a:rPr sz="3000" b="1">
                <a:solidFill>
                  <a:srgbClr val="FFFFFF"/>
                </a:solidFill>
                <a:latin typeface="Calibri"/>
              </a:rPr>
              <a:t>From algorithm to product</a:t>
            </a:r>
          </a:p>
        </p:txBody>
      </p:sp>
      <p:sp>
        <p:nvSpPr>
          <p:cNvPr id="6" name="Rounded Rectangle 5"/>
          <p:cNvSpPr/>
          <p:nvPr/>
        </p:nvSpPr>
        <p:spPr>
          <a:xfrm>
            <a:off x="640080" y="2331720"/>
            <a:ext cx="2615184" cy="2103120"/>
          </a:xfrm>
          <a:prstGeom prst="roundRect">
            <a:avLst>
              <a:gd name="adj" fmla="val 7000"/>
            </a:avLst>
          </a:prstGeom>
          <a:solidFill>
            <a:srgbClr val="20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624328"/>
            <a:ext cx="2011680" cy="457200"/>
          </a:xfrm>
          <a:prstGeom prst="rect">
            <a:avLst/>
          </a:prstGeom>
          <a:noFill/>
        </p:spPr>
        <p:txBody>
          <a:bodyPr wrap="square" anchor="t" lIns="0" rIns="0" tIns="0" bIns="0">
            <a:spAutoFit/>
          </a:bodyPr>
          <a:lstStyle/>
          <a:p>
            <a:pPr algn="l">
              <a:lnSpc>
                <a:spcPct val="105000"/>
              </a:lnSpc>
              <a:spcBef>
                <a:spcPts val="0"/>
              </a:spcBef>
              <a:spcAft>
                <a:spcPts val="600"/>
              </a:spcAft>
            </a:pPr>
            <a:r>
              <a:rPr sz="2600" b="1">
                <a:solidFill>
                  <a:srgbClr val="1FA97D"/>
                </a:solidFill>
                <a:latin typeface="Calibri"/>
              </a:rPr>
              <a:t>01</a:t>
            </a:r>
          </a:p>
        </p:txBody>
      </p:sp>
      <p:sp>
        <p:nvSpPr>
          <p:cNvPr id="8" name="TextBox 7"/>
          <p:cNvSpPr txBox="1"/>
          <p:nvPr/>
        </p:nvSpPr>
        <p:spPr>
          <a:xfrm>
            <a:off x="914400" y="3200400"/>
            <a:ext cx="2103120" cy="457200"/>
          </a:xfrm>
          <a:prstGeom prst="rect">
            <a:avLst/>
          </a:prstGeom>
          <a:noFill/>
        </p:spPr>
        <p:txBody>
          <a:bodyPr wrap="square" anchor="t" lIns="0" rIns="0" tIns="0" bIns="0">
            <a:spAutoFit/>
          </a:bodyPr>
          <a:lstStyle/>
          <a:p>
            <a:pPr algn="l">
              <a:lnSpc>
                <a:spcPct val="100000"/>
              </a:lnSpc>
              <a:spcBef>
                <a:spcPts val="0"/>
              </a:spcBef>
              <a:spcAft>
                <a:spcPts val="600"/>
              </a:spcAft>
            </a:pPr>
            <a:r>
              <a:rPr sz="1700" b="1">
                <a:solidFill>
                  <a:srgbClr val="FFFFFF"/>
                </a:solidFill>
                <a:latin typeface="Calibri"/>
              </a:rPr>
              <a:t>Register</a:t>
            </a:r>
          </a:p>
        </p:txBody>
      </p:sp>
      <p:sp>
        <p:nvSpPr>
          <p:cNvPr id="9" name="TextBox 8"/>
          <p:cNvSpPr txBox="1"/>
          <p:nvPr/>
        </p:nvSpPr>
        <p:spPr>
          <a:xfrm>
            <a:off x="914400" y="3657600"/>
            <a:ext cx="2103120" cy="731520"/>
          </a:xfrm>
          <a:prstGeom prst="rect">
            <a:avLst/>
          </a:prstGeom>
          <a:noFill/>
        </p:spPr>
        <p:txBody>
          <a:bodyPr wrap="square" anchor="t" lIns="0" rIns="0" tIns="0" bIns="0">
            <a:spAutoFit/>
          </a:bodyPr>
          <a:lstStyle/>
          <a:p>
            <a:pPr algn="l">
              <a:lnSpc>
                <a:spcPct val="112000"/>
              </a:lnSpc>
              <a:spcBef>
                <a:spcPts val="0"/>
              </a:spcBef>
              <a:spcAft>
                <a:spcPts val="600"/>
              </a:spcAft>
            </a:pPr>
            <a:r>
              <a:rPr sz="1300" b="0">
                <a:solidFill>
                  <a:srgbClr val="C9D2E0"/>
                </a:solidFill>
                <a:latin typeface="Calibri"/>
              </a:rPr>
              <a:t>Sign in to a private workspace</a:t>
            </a:r>
          </a:p>
        </p:txBody>
      </p:sp>
      <p:sp>
        <p:nvSpPr>
          <p:cNvPr id="10" name="Rounded Rectangle 9"/>
          <p:cNvSpPr/>
          <p:nvPr/>
        </p:nvSpPr>
        <p:spPr>
          <a:xfrm>
            <a:off x="3465576" y="2331720"/>
            <a:ext cx="2615184" cy="2103120"/>
          </a:xfrm>
          <a:prstGeom prst="roundRect">
            <a:avLst>
              <a:gd name="adj" fmla="val 7000"/>
            </a:avLst>
          </a:prstGeom>
          <a:solidFill>
            <a:srgbClr val="20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39896" y="2624328"/>
            <a:ext cx="2011680" cy="457200"/>
          </a:xfrm>
          <a:prstGeom prst="rect">
            <a:avLst/>
          </a:prstGeom>
          <a:noFill/>
        </p:spPr>
        <p:txBody>
          <a:bodyPr wrap="square" anchor="t" lIns="0" rIns="0" tIns="0" bIns="0">
            <a:spAutoFit/>
          </a:bodyPr>
          <a:lstStyle/>
          <a:p>
            <a:pPr algn="l">
              <a:lnSpc>
                <a:spcPct val="105000"/>
              </a:lnSpc>
              <a:spcBef>
                <a:spcPts val="0"/>
              </a:spcBef>
              <a:spcAft>
                <a:spcPts val="600"/>
              </a:spcAft>
            </a:pPr>
            <a:r>
              <a:rPr sz="2600" b="1">
                <a:solidFill>
                  <a:srgbClr val="1FA97D"/>
                </a:solidFill>
                <a:latin typeface="Calibri"/>
              </a:rPr>
              <a:t>02</a:t>
            </a:r>
          </a:p>
        </p:txBody>
      </p:sp>
      <p:sp>
        <p:nvSpPr>
          <p:cNvPr id="12" name="TextBox 11"/>
          <p:cNvSpPr txBox="1"/>
          <p:nvPr/>
        </p:nvSpPr>
        <p:spPr>
          <a:xfrm>
            <a:off x="3739896" y="3200400"/>
            <a:ext cx="2103120" cy="457200"/>
          </a:xfrm>
          <a:prstGeom prst="rect">
            <a:avLst/>
          </a:prstGeom>
          <a:noFill/>
        </p:spPr>
        <p:txBody>
          <a:bodyPr wrap="square" anchor="t" lIns="0" rIns="0" tIns="0" bIns="0">
            <a:spAutoFit/>
          </a:bodyPr>
          <a:lstStyle/>
          <a:p>
            <a:pPr algn="l">
              <a:lnSpc>
                <a:spcPct val="100000"/>
              </a:lnSpc>
              <a:spcBef>
                <a:spcPts val="0"/>
              </a:spcBef>
              <a:spcAft>
                <a:spcPts val="600"/>
              </a:spcAft>
            </a:pPr>
            <a:r>
              <a:rPr sz="1700" b="1">
                <a:solidFill>
                  <a:srgbClr val="FFFFFF"/>
                </a:solidFill>
                <a:latin typeface="Calibri"/>
              </a:rPr>
              <a:t>Upload</a:t>
            </a:r>
          </a:p>
        </p:txBody>
      </p:sp>
      <p:sp>
        <p:nvSpPr>
          <p:cNvPr id="13" name="TextBox 12"/>
          <p:cNvSpPr txBox="1"/>
          <p:nvPr/>
        </p:nvSpPr>
        <p:spPr>
          <a:xfrm>
            <a:off x="3739896" y="3657600"/>
            <a:ext cx="2103120" cy="731520"/>
          </a:xfrm>
          <a:prstGeom prst="rect">
            <a:avLst/>
          </a:prstGeom>
          <a:noFill/>
        </p:spPr>
        <p:txBody>
          <a:bodyPr wrap="square" anchor="t" lIns="0" rIns="0" tIns="0" bIns="0">
            <a:spAutoFit/>
          </a:bodyPr>
          <a:lstStyle/>
          <a:p>
            <a:pPr algn="l">
              <a:lnSpc>
                <a:spcPct val="112000"/>
              </a:lnSpc>
              <a:spcBef>
                <a:spcPts val="0"/>
              </a:spcBef>
              <a:spcAft>
                <a:spcPts val="600"/>
              </a:spcAft>
            </a:pPr>
            <a:r>
              <a:rPr sz="1300" b="0">
                <a:solidFill>
                  <a:srgbClr val="C9D2E0"/>
                </a:solidFill>
                <a:latin typeface="Calibri"/>
              </a:rPr>
              <a:t>Add host images and a square logo mark</a:t>
            </a:r>
          </a:p>
        </p:txBody>
      </p:sp>
      <p:sp>
        <p:nvSpPr>
          <p:cNvPr id="14" name="Rounded Rectangle 13"/>
          <p:cNvSpPr/>
          <p:nvPr/>
        </p:nvSpPr>
        <p:spPr>
          <a:xfrm>
            <a:off x="6291072" y="2331720"/>
            <a:ext cx="2615184" cy="2103120"/>
          </a:xfrm>
          <a:prstGeom prst="roundRect">
            <a:avLst>
              <a:gd name="adj" fmla="val 7000"/>
            </a:avLst>
          </a:prstGeom>
          <a:solidFill>
            <a:srgbClr val="20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65392" y="2624328"/>
            <a:ext cx="2011680" cy="457200"/>
          </a:xfrm>
          <a:prstGeom prst="rect">
            <a:avLst/>
          </a:prstGeom>
          <a:noFill/>
        </p:spPr>
        <p:txBody>
          <a:bodyPr wrap="square" anchor="t" lIns="0" rIns="0" tIns="0" bIns="0">
            <a:spAutoFit/>
          </a:bodyPr>
          <a:lstStyle/>
          <a:p>
            <a:pPr algn="l">
              <a:lnSpc>
                <a:spcPct val="105000"/>
              </a:lnSpc>
              <a:spcBef>
                <a:spcPts val="0"/>
              </a:spcBef>
              <a:spcAft>
                <a:spcPts val="600"/>
              </a:spcAft>
            </a:pPr>
            <a:r>
              <a:rPr sz="2600" b="1">
                <a:solidFill>
                  <a:srgbClr val="1FA97D"/>
                </a:solidFill>
                <a:latin typeface="Calibri"/>
              </a:rPr>
              <a:t>03</a:t>
            </a:r>
          </a:p>
        </p:txBody>
      </p:sp>
      <p:sp>
        <p:nvSpPr>
          <p:cNvPr id="16" name="TextBox 15"/>
          <p:cNvSpPr txBox="1"/>
          <p:nvPr/>
        </p:nvSpPr>
        <p:spPr>
          <a:xfrm>
            <a:off x="6565392" y="3200400"/>
            <a:ext cx="2103120" cy="457200"/>
          </a:xfrm>
          <a:prstGeom prst="rect">
            <a:avLst/>
          </a:prstGeom>
          <a:noFill/>
        </p:spPr>
        <p:txBody>
          <a:bodyPr wrap="square" anchor="t" lIns="0" rIns="0" tIns="0" bIns="0">
            <a:spAutoFit/>
          </a:bodyPr>
          <a:lstStyle/>
          <a:p>
            <a:pPr algn="l">
              <a:lnSpc>
                <a:spcPct val="100000"/>
              </a:lnSpc>
              <a:spcBef>
                <a:spcPts val="0"/>
              </a:spcBef>
              <a:spcAft>
                <a:spcPts val="600"/>
              </a:spcAft>
            </a:pPr>
            <a:r>
              <a:rPr sz="1700" b="1">
                <a:solidFill>
                  <a:srgbClr val="FFFFFF"/>
                </a:solidFill>
                <a:latin typeface="Calibri"/>
              </a:rPr>
              <a:t>Engrave / Extract</a:t>
            </a:r>
          </a:p>
        </p:txBody>
      </p:sp>
      <p:sp>
        <p:nvSpPr>
          <p:cNvPr id="17" name="TextBox 16"/>
          <p:cNvSpPr txBox="1"/>
          <p:nvPr/>
        </p:nvSpPr>
        <p:spPr>
          <a:xfrm>
            <a:off x="6565392" y="3657600"/>
            <a:ext cx="2103120" cy="731520"/>
          </a:xfrm>
          <a:prstGeom prst="rect">
            <a:avLst/>
          </a:prstGeom>
          <a:noFill/>
        </p:spPr>
        <p:txBody>
          <a:bodyPr wrap="square" anchor="t" lIns="0" rIns="0" tIns="0" bIns="0">
            <a:spAutoFit/>
          </a:bodyPr>
          <a:lstStyle/>
          <a:p>
            <a:pPr algn="l">
              <a:lnSpc>
                <a:spcPct val="112000"/>
              </a:lnSpc>
              <a:spcBef>
                <a:spcPts val="0"/>
              </a:spcBef>
              <a:spcAft>
                <a:spcPts val="600"/>
              </a:spcAft>
            </a:pPr>
            <a:r>
              <a:rPr sz="1300" b="0">
                <a:solidFill>
                  <a:srgbClr val="C9D2E0"/>
                </a:solidFill>
                <a:latin typeface="Calibri"/>
              </a:rPr>
              <a:t>Embed a mark, or recover one from a suspect copy</a:t>
            </a:r>
          </a:p>
        </p:txBody>
      </p:sp>
      <p:sp>
        <p:nvSpPr>
          <p:cNvPr id="18" name="Rounded Rectangle 17"/>
          <p:cNvSpPr/>
          <p:nvPr/>
        </p:nvSpPr>
        <p:spPr>
          <a:xfrm>
            <a:off x="9116568" y="2331720"/>
            <a:ext cx="2615184" cy="2103120"/>
          </a:xfrm>
          <a:prstGeom prst="roundRect">
            <a:avLst>
              <a:gd name="adj" fmla="val 7000"/>
            </a:avLst>
          </a:prstGeom>
          <a:solidFill>
            <a:srgbClr val="20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90888" y="2624328"/>
            <a:ext cx="2011680" cy="457200"/>
          </a:xfrm>
          <a:prstGeom prst="rect">
            <a:avLst/>
          </a:prstGeom>
          <a:noFill/>
        </p:spPr>
        <p:txBody>
          <a:bodyPr wrap="square" anchor="t" lIns="0" rIns="0" tIns="0" bIns="0">
            <a:spAutoFit/>
          </a:bodyPr>
          <a:lstStyle/>
          <a:p>
            <a:pPr algn="l">
              <a:lnSpc>
                <a:spcPct val="105000"/>
              </a:lnSpc>
              <a:spcBef>
                <a:spcPts val="0"/>
              </a:spcBef>
              <a:spcAft>
                <a:spcPts val="600"/>
              </a:spcAft>
            </a:pPr>
            <a:r>
              <a:rPr sz="2600" b="1">
                <a:solidFill>
                  <a:srgbClr val="1FA97D"/>
                </a:solidFill>
                <a:latin typeface="Calibri"/>
              </a:rPr>
              <a:t>04</a:t>
            </a:r>
          </a:p>
        </p:txBody>
      </p:sp>
      <p:sp>
        <p:nvSpPr>
          <p:cNvPr id="20" name="TextBox 19"/>
          <p:cNvSpPr txBox="1"/>
          <p:nvPr/>
        </p:nvSpPr>
        <p:spPr>
          <a:xfrm>
            <a:off x="9390888" y="3200400"/>
            <a:ext cx="2103120" cy="457200"/>
          </a:xfrm>
          <a:prstGeom prst="rect">
            <a:avLst/>
          </a:prstGeom>
          <a:noFill/>
        </p:spPr>
        <p:txBody>
          <a:bodyPr wrap="square" anchor="t" lIns="0" rIns="0" tIns="0" bIns="0">
            <a:spAutoFit/>
          </a:bodyPr>
          <a:lstStyle/>
          <a:p>
            <a:pPr algn="l">
              <a:lnSpc>
                <a:spcPct val="100000"/>
              </a:lnSpc>
              <a:spcBef>
                <a:spcPts val="0"/>
              </a:spcBef>
              <a:spcAft>
                <a:spcPts val="600"/>
              </a:spcAft>
            </a:pPr>
            <a:r>
              <a:rPr sz="1700" b="1">
                <a:solidFill>
                  <a:srgbClr val="FFFFFF"/>
                </a:solidFill>
                <a:latin typeface="Calibri"/>
              </a:rPr>
              <a:t>Review</a:t>
            </a:r>
          </a:p>
        </p:txBody>
      </p:sp>
      <p:sp>
        <p:nvSpPr>
          <p:cNvPr id="21" name="TextBox 20"/>
          <p:cNvSpPr txBox="1"/>
          <p:nvPr/>
        </p:nvSpPr>
        <p:spPr>
          <a:xfrm>
            <a:off x="9390888" y="3657600"/>
            <a:ext cx="2103120" cy="731520"/>
          </a:xfrm>
          <a:prstGeom prst="rect">
            <a:avLst/>
          </a:prstGeom>
          <a:noFill/>
        </p:spPr>
        <p:txBody>
          <a:bodyPr wrap="square" anchor="t" lIns="0" rIns="0" tIns="0" bIns="0">
            <a:spAutoFit/>
          </a:bodyPr>
          <a:lstStyle/>
          <a:p>
            <a:pPr algn="l">
              <a:lnSpc>
                <a:spcPct val="112000"/>
              </a:lnSpc>
              <a:spcBef>
                <a:spcPts val="0"/>
              </a:spcBef>
              <a:spcAft>
                <a:spcPts val="600"/>
              </a:spcAft>
            </a:pPr>
            <a:r>
              <a:rPr sz="1300" b="0">
                <a:solidFill>
                  <a:srgbClr val="C9D2E0"/>
                </a:solidFill>
                <a:latin typeface="Calibri"/>
              </a:rPr>
              <a:t>See results and match scores in the dashboard</a:t>
            </a:r>
          </a:p>
        </p:txBody>
      </p:sp>
      <p:sp>
        <p:nvSpPr>
          <p:cNvPr id="22" name="TextBox 21"/>
          <p:cNvSpPr txBox="1"/>
          <p:nvPr/>
        </p:nvSpPr>
        <p:spPr>
          <a:xfrm>
            <a:off x="640080" y="5074920"/>
            <a:ext cx="10972800" cy="548640"/>
          </a:xfrm>
          <a:prstGeom prst="rect">
            <a:avLst/>
          </a:prstGeom>
          <a:noFill/>
        </p:spPr>
        <p:txBody>
          <a:bodyPr wrap="square" anchor="t" lIns="0" rIns="0" tIns="0" bIns="0">
            <a:spAutoFit/>
          </a:bodyPr>
          <a:lstStyle/>
          <a:p>
            <a:pPr algn="l">
              <a:lnSpc>
                <a:spcPct val="105000"/>
              </a:lnSpc>
              <a:spcBef>
                <a:spcPts val="0"/>
              </a:spcBef>
              <a:spcAft>
                <a:spcPts val="600"/>
              </a:spcAft>
            </a:pPr>
            <a:r>
              <a:rPr sz="1700" b="0">
                <a:solidFill>
                  <a:srgbClr val="C9D2E0"/>
                </a:solidFill>
                <a:latin typeface="Calibri"/>
              </a:rPr>
              <a:t>Available as a web app at </a:t>
            </a:r>
            <a:r>
              <a:rPr sz="1700" b="1">
                <a:solidFill>
                  <a:srgbClr val="1FA97D"/>
                </a:solidFill>
                <a:latin typeface="Calibri"/>
              </a:rPr>
              <a:t>invisign.com</a:t>
            </a:r>
          </a:p>
        </p:txBody>
      </p:sp>
      <p:sp>
        <p:nvSpPr>
          <p:cNvPr id="23" name="TextBox 22"/>
          <p:cNvSpPr txBox="1"/>
          <p:nvPr/>
        </p:nvSpPr>
        <p:spPr>
          <a:xfrm>
            <a:off x="640080" y="6455664"/>
            <a:ext cx="4572000" cy="274320"/>
          </a:xfrm>
          <a:prstGeom prst="rect">
            <a:avLst/>
          </a:prstGeom>
          <a:noFill/>
        </p:spPr>
        <p:txBody>
          <a:bodyPr wrap="square" anchor="t" lIns="0" rIns="0" tIns="0" bIns="0">
            <a:spAutoFit/>
          </a:bodyPr>
          <a:lstStyle/>
          <a:p>
            <a:pPr algn="l">
              <a:lnSpc>
                <a:spcPct val="105000"/>
              </a:lnSpc>
              <a:spcBef>
                <a:spcPts val="0"/>
              </a:spcBef>
              <a:spcAft>
                <a:spcPts val="600"/>
              </a:spcAft>
            </a:pPr>
            <a:r>
              <a:rPr sz="1000" b="1">
                <a:solidFill>
                  <a:srgbClr val="5A6473"/>
                </a:solidFill>
                <a:latin typeface="Calibri"/>
              </a:rPr>
              <a:t>Invisign</a:t>
            </a:r>
            <a:r>
              <a:rPr sz="1000" b="0">
                <a:solidFill>
                  <a:srgbClr val="5A6473"/>
                </a:solidFill>
                <a:latin typeface="Calibri"/>
              </a:rPr>
              <a:t>  ·  Capstone defense</a:t>
            </a:r>
          </a:p>
        </p:txBody>
      </p:sp>
      <p:sp>
        <p:nvSpPr>
          <p:cNvPr id="24" name="TextBox 23"/>
          <p:cNvSpPr txBox="1"/>
          <p:nvPr/>
        </p:nvSpPr>
        <p:spPr>
          <a:xfrm>
            <a:off x="10881360" y="6455664"/>
            <a:ext cx="91440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a:solidFill>
                  <a:srgbClr val="5A6473"/>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566928"/>
            <a:ext cx="502920" cy="82296"/>
          </a:xfrm>
          <a:prstGeom prst="rect">
            <a:avLst/>
          </a:prstGeom>
          <a:solidFill>
            <a:srgbClr val="1FA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0160" y="411480"/>
            <a:ext cx="9144000" cy="365760"/>
          </a:xfrm>
          <a:prstGeom prst="rect">
            <a:avLst/>
          </a:prstGeom>
          <a:noFill/>
        </p:spPr>
        <p:txBody>
          <a:bodyPr wrap="square" anchor="t" lIns="0" rIns="0" tIns="0" bIns="0">
            <a:spAutoFit/>
          </a:bodyPr>
          <a:lstStyle/>
          <a:p>
            <a:pPr algn="l">
              <a:lnSpc>
                <a:spcPct val="105000"/>
              </a:lnSpc>
              <a:spcBef>
                <a:spcPts val="0"/>
              </a:spcBef>
              <a:spcAft>
                <a:spcPts val="600"/>
              </a:spcAft>
            </a:pPr>
            <a:r>
              <a:rPr sz="1400" b="1">
                <a:solidFill>
                  <a:srgbClr val="1FA97D"/>
                </a:solidFill>
                <a:latin typeface="Calibri"/>
              </a:rPr>
              <a:t>MARKET</a:t>
            </a:r>
          </a:p>
        </p:txBody>
      </p:sp>
      <p:sp>
        <p:nvSpPr>
          <p:cNvPr id="4" name="TextBox 3"/>
          <p:cNvSpPr txBox="1"/>
          <p:nvPr/>
        </p:nvSpPr>
        <p:spPr>
          <a:xfrm>
            <a:off x="640080" y="841248"/>
            <a:ext cx="10972800" cy="914400"/>
          </a:xfrm>
          <a:prstGeom prst="rect">
            <a:avLst/>
          </a:prstGeom>
          <a:noFill/>
        </p:spPr>
        <p:txBody>
          <a:bodyPr wrap="square" anchor="t" lIns="0" rIns="0" tIns="0" bIns="0">
            <a:spAutoFit/>
          </a:bodyPr>
          <a:lstStyle/>
          <a:p>
            <a:pPr algn="l">
              <a:lnSpc>
                <a:spcPct val="100000"/>
              </a:lnSpc>
              <a:spcBef>
                <a:spcPts val="0"/>
              </a:spcBef>
              <a:spcAft>
                <a:spcPts val="600"/>
              </a:spcAft>
            </a:pPr>
            <a:r>
              <a:rPr sz="3000" b="1">
                <a:solidFill>
                  <a:srgbClr val="1A2238"/>
                </a:solidFill>
                <a:latin typeface="Calibri"/>
              </a:rPr>
              <a:t>A real, growing market for tracing leaks</a:t>
            </a:r>
          </a:p>
        </p:txBody>
      </p:sp>
      <p:sp>
        <p:nvSpPr>
          <p:cNvPr id="5" name="TextBox 4"/>
          <p:cNvSpPr txBox="1"/>
          <p:nvPr/>
        </p:nvSpPr>
        <p:spPr>
          <a:xfrm>
            <a:off x="640080" y="1600200"/>
            <a:ext cx="10972800" cy="640080"/>
          </a:xfrm>
          <a:prstGeom prst="rect">
            <a:avLst/>
          </a:prstGeom>
          <a:noFill/>
        </p:spPr>
        <p:txBody>
          <a:bodyPr wrap="square" anchor="t" lIns="0" rIns="0" tIns="0" bIns="0">
            <a:spAutoFit/>
          </a:bodyPr>
          <a:lstStyle/>
          <a:p>
            <a:pPr algn="l">
              <a:lnSpc>
                <a:spcPct val="115000"/>
              </a:lnSpc>
              <a:spcBef>
                <a:spcPts val="0"/>
              </a:spcBef>
              <a:spcAft>
                <a:spcPts val="600"/>
              </a:spcAft>
            </a:pPr>
            <a:r>
              <a:rPr sz="1700" b="0">
                <a:solidFill>
                  <a:srgbClr val="5A6473"/>
                </a:solidFill>
                <a:latin typeface="Calibri"/>
              </a:rPr>
              <a:t>Digital watermarking spans several segments. Invisign targets </a:t>
            </a:r>
            <a:r>
              <a:rPr sz="1700" b="1">
                <a:solidFill>
                  <a:srgbClr val="1FA97D"/>
                </a:solidFill>
                <a:latin typeface="Calibri"/>
              </a:rPr>
              <a:t>forensic tracing</a:t>
            </a:r>
            <a:r>
              <a:rPr sz="1700" b="0">
                <a:solidFill>
                  <a:srgbClr val="5A6473"/>
                </a:solidFill>
                <a:latin typeface="Calibri"/>
              </a:rPr>
              <a:t> — a different mark per recipient, so a leak points back to its source.</a:t>
            </a:r>
          </a:p>
        </p:txBody>
      </p:sp>
      <p:sp>
        <p:nvSpPr>
          <p:cNvPr id="6" name="Rounded Rectangle 5"/>
          <p:cNvSpPr/>
          <p:nvPr/>
        </p:nvSpPr>
        <p:spPr>
          <a:xfrm>
            <a:off x="640080" y="2697480"/>
            <a:ext cx="2615184" cy="2331720"/>
          </a:xfrm>
          <a:prstGeom prst="roundRect">
            <a:avLst>
              <a:gd name="adj" fmla="val 7000"/>
            </a:avLst>
          </a:prstGeom>
          <a:solidFill>
            <a:srgbClr val="ECF6F2"/>
          </a:solidFill>
          <a:ln>
            <a:noFill/>
          </a:ln>
          <a:effectLst/>
          <a:effectLst>
            <a:outerShdw blurRad="80000" dist="30000" dir="5400000" rotWithShape="0">
              <a:srgbClr val="1A2238">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697480"/>
            <a:ext cx="2615184" cy="128016"/>
          </a:xfrm>
          <a:prstGeom prst="rect">
            <a:avLst/>
          </a:prstGeom>
          <a:solidFill>
            <a:srgbClr val="1FA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3063240"/>
            <a:ext cx="2148840" cy="822960"/>
          </a:xfrm>
          <a:prstGeom prst="rect">
            <a:avLst/>
          </a:prstGeom>
          <a:noFill/>
        </p:spPr>
        <p:txBody>
          <a:bodyPr wrap="square" anchor="t" lIns="0" rIns="0" tIns="0" bIns="0">
            <a:spAutoFit/>
          </a:bodyPr>
          <a:lstStyle/>
          <a:p>
            <a:pPr algn="l">
              <a:lnSpc>
                <a:spcPct val="100000"/>
              </a:lnSpc>
              <a:spcBef>
                <a:spcPts val="0"/>
              </a:spcBef>
              <a:spcAft>
                <a:spcPts val="600"/>
              </a:spcAft>
            </a:pPr>
            <a:r>
              <a:rPr sz="1650" b="1">
                <a:solidFill>
                  <a:srgbClr val="1A2238"/>
                </a:solidFill>
                <a:latin typeface="Calibri"/>
              </a:rPr>
              <a:t>Forensic tracing</a:t>
            </a:r>
          </a:p>
        </p:txBody>
      </p:sp>
      <p:sp>
        <p:nvSpPr>
          <p:cNvPr id="9" name="TextBox 8"/>
          <p:cNvSpPr txBox="1"/>
          <p:nvPr/>
        </p:nvSpPr>
        <p:spPr>
          <a:xfrm>
            <a:off x="896112" y="3840480"/>
            <a:ext cx="2148840" cy="1097280"/>
          </a:xfrm>
          <a:prstGeom prst="rect">
            <a:avLst/>
          </a:prstGeom>
          <a:noFill/>
        </p:spPr>
        <p:txBody>
          <a:bodyPr wrap="square" anchor="t" lIns="0" rIns="0" tIns="0" bIns="0">
            <a:spAutoFit/>
          </a:bodyPr>
          <a:lstStyle/>
          <a:p>
            <a:pPr algn="l">
              <a:lnSpc>
                <a:spcPct val="113000"/>
              </a:lnSpc>
              <a:spcBef>
                <a:spcPts val="0"/>
              </a:spcBef>
              <a:spcAft>
                <a:spcPts val="600"/>
              </a:spcAft>
            </a:pPr>
            <a:r>
              <a:rPr sz="1300" b="0">
                <a:solidFill>
                  <a:srgbClr val="5A6473"/>
                </a:solidFill>
                <a:latin typeface="Calibri"/>
              </a:rPr>
              <a:t>Who leaked this copy? — Invisign's segment. Proven in video, thinner for still images.</a:t>
            </a:r>
          </a:p>
        </p:txBody>
      </p:sp>
      <p:sp>
        <p:nvSpPr>
          <p:cNvPr id="10" name="TextBox 9"/>
          <p:cNvSpPr txBox="1"/>
          <p:nvPr/>
        </p:nvSpPr>
        <p:spPr>
          <a:xfrm>
            <a:off x="896112" y="4608576"/>
            <a:ext cx="2103120" cy="274320"/>
          </a:xfrm>
          <a:prstGeom prst="rect">
            <a:avLst/>
          </a:prstGeom>
          <a:noFill/>
        </p:spPr>
        <p:txBody>
          <a:bodyPr wrap="square" anchor="t" lIns="0" rIns="0" tIns="0" bIns="0">
            <a:spAutoFit/>
          </a:bodyPr>
          <a:lstStyle/>
          <a:p>
            <a:pPr algn="l">
              <a:lnSpc>
                <a:spcPct val="105000"/>
              </a:lnSpc>
              <a:spcBef>
                <a:spcPts val="0"/>
              </a:spcBef>
              <a:spcAft>
                <a:spcPts val="600"/>
              </a:spcAft>
            </a:pPr>
            <a:r>
              <a:rPr sz="1200" b="1">
                <a:solidFill>
                  <a:srgbClr val="1FA97D"/>
                </a:solidFill>
                <a:latin typeface="Calibri"/>
              </a:rPr>
              <a:t>◀ Invisign</a:t>
            </a:r>
          </a:p>
        </p:txBody>
      </p:sp>
      <p:sp>
        <p:nvSpPr>
          <p:cNvPr id="11" name="Rounded Rectangle 10"/>
          <p:cNvSpPr/>
          <p:nvPr/>
        </p:nvSpPr>
        <p:spPr>
          <a:xfrm>
            <a:off x="3465576" y="2697480"/>
            <a:ext cx="2615184" cy="2331720"/>
          </a:xfrm>
          <a:prstGeom prst="roundRect">
            <a:avLst>
              <a:gd name="adj" fmla="val 7000"/>
            </a:avLst>
          </a:prstGeom>
          <a:solidFill>
            <a:srgbClr val="F5F7FA"/>
          </a:solidFill>
          <a:ln>
            <a:noFill/>
          </a:ln>
          <a:effectLst/>
          <a:effectLst>
            <a:outerShdw blurRad="80000" dist="30000" dir="5400000" rotWithShape="0">
              <a:srgbClr val="1A2238">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65576" y="2697480"/>
            <a:ext cx="2615184" cy="12801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21608" y="3063240"/>
            <a:ext cx="2148840" cy="822960"/>
          </a:xfrm>
          <a:prstGeom prst="rect">
            <a:avLst/>
          </a:prstGeom>
          <a:noFill/>
        </p:spPr>
        <p:txBody>
          <a:bodyPr wrap="square" anchor="t" lIns="0" rIns="0" tIns="0" bIns="0">
            <a:spAutoFit/>
          </a:bodyPr>
          <a:lstStyle/>
          <a:p>
            <a:pPr algn="l">
              <a:lnSpc>
                <a:spcPct val="100000"/>
              </a:lnSpc>
              <a:spcBef>
                <a:spcPts val="0"/>
              </a:spcBef>
              <a:spcAft>
                <a:spcPts val="600"/>
              </a:spcAft>
            </a:pPr>
            <a:r>
              <a:rPr sz="1650" b="1">
                <a:solidFill>
                  <a:srgbClr val="1A2238"/>
                </a:solidFill>
                <a:latin typeface="Calibri"/>
              </a:rPr>
              <a:t>Brand / copyright</a:t>
            </a:r>
          </a:p>
        </p:txBody>
      </p:sp>
      <p:sp>
        <p:nvSpPr>
          <p:cNvPr id="14" name="TextBox 13"/>
          <p:cNvSpPr txBox="1"/>
          <p:nvPr/>
        </p:nvSpPr>
        <p:spPr>
          <a:xfrm>
            <a:off x="3721608" y="3840480"/>
            <a:ext cx="2148840" cy="1097280"/>
          </a:xfrm>
          <a:prstGeom prst="rect">
            <a:avLst/>
          </a:prstGeom>
          <a:noFill/>
        </p:spPr>
        <p:txBody>
          <a:bodyPr wrap="square" anchor="t" lIns="0" rIns="0" tIns="0" bIns="0">
            <a:spAutoFit/>
          </a:bodyPr>
          <a:lstStyle/>
          <a:p>
            <a:pPr algn="l">
              <a:lnSpc>
                <a:spcPct val="113000"/>
              </a:lnSpc>
              <a:spcBef>
                <a:spcPts val="0"/>
              </a:spcBef>
              <a:spcAft>
                <a:spcPts val="600"/>
              </a:spcAft>
            </a:pPr>
            <a:r>
              <a:rPr sz="1300" b="0">
                <a:solidFill>
                  <a:srgbClr val="5A6473"/>
                </a:solidFill>
                <a:latin typeface="Calibri"/>
              </a:rPr>
              <a:t>Mark plus monitoring of the web for misuse of owned images.</a:t>
            </a:r>
          </a:p>
        </p:txBody>
      </p:sp>
      <p:sp>
        <p:nvSpPr>
          <p:cNvPr id="15" name="Rounded Rectangle 14"/>
          <p:cNvSpPr/>
          <p:nvPr/>
        </p:nvSpPr>
        <p:spPr>
          <a:xfrm>
            <a:off x="6291072" y="2697480"/>
            <a:ext cx="2615184" cy="2331720"/>
          </a:xfrm>
          <a:prstGeom prst="roundRect">
            <a:avLst>
              <a:gd name="adj" fmla="val 7000"/>
            </a:avLst>
          </a:prstGeom>
          <a:solidFill>
            <a:srgbClr val="F5F7FA"/>
          </a:solidFill>
          <a:ln>
            <a:noFill/>
          </a:ln>
          <a:effectLst/>
          <a:effectLst>
            <a:outerShdw blurRad="80000" dist="30000" dir="5400000" rotWithShape="0">
              <a:srgbClr val="1A2238">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91072" y="2697480"/>
            <a:ext cx="2615184" cy="128016"/>
          </a:xfrm>
          <a:prstGeom prst="rect">
            <a:avLst/>
          </a:prstGeom>
          <a:solidFill>
            <a:srgbClr val="1A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47104" y="3063240"/>
            <a:ext cx="2148840" cy="822960"/>
          </a:xfrm>
          <a:prstGeom prst="rect">
            <a:avLst/>
          </a:prstGeom>
          <a:noFill/>
        </p:spPr>
        <p:txBody>
          <a:bodyPr wrap="square" anchor="t" lIns="0" rIns="0" tIns="0" bIns="0">
            <a:spAutoFit/>
          </a:bodyPr>
          <a:lstStyle/>
          <a:p>
            <a:pPr algn="l">
              <a:lnSpc>
                <a:spcPct val="100000"/>
              </a:lnSpc>
              <a:spcBef>
                <a:spcPts val="0"/>
              </a:spcBef>
              <a:spcAft>
                <a:spcPts val="600"/>
              </a:spcAft>
            </a:pPr>
            <a:r>
              <a:rPr sz="1650" b="1">
                <a:solidFill>
                  <a:srgbClr val="1A2238"/>
                </a:solidFill>
                <a:latin typeface="Calibri"/>
              </a:rPr>
              <a:t>AI-content provenance</a:t>
            </a:r>
          </a:p>
        </p:txBody>
      </p:sp>
      <p:sp>
        <p:nvSpPr>
          <p:cNvPr id="18" name="TextBox 17"/>
          <p:cNvSpPr txBox="1"/>
          <p:nvPr/>
        </p:nvSpPr>
        <p:spPr>
          <a:xfrm>
            <a:off x="6547104" y="3840480"/>
            <a:ext cx="2148840" cy="1097280"/>
          </a:xfrm>
          <a:prstGeom prst="rect">
            <a:avLst/>
          </a:prstGeom>
          <a:noFill/>
        </p:spPr>
        <p:txBody>
          <a:bodyPr wrap="square" anchor="t" lIns="0" rIns="0" tIns="0" bIns="0">
            <a:spAutoFit/>
          </a:bodyPr>
          <a:lstStyle/>
          <a:p>
            <a:pPr algn="l">
              <a:lnSpc>
                <a:spcPct val="113000"/>
              </a:lnSpc>
              <a:spcBef>
                <a:spcPts val="0"/>
              </a:spcBef>
              <a:spcAft>
                <a:spcPts val="600"/>
              </a:spcAft>
            </a:pPr>
            <a:r>
              <a:rPr sz="1300" b="0">
                <a:solidFill>
                  <a:srgbClr val="5A6473"/>
                </a:solidFill>
                <a:latin typeface="Calibri"/>
              </a:rPr>
              <a:t>Is this AI-made? The fastest-growing, R&amp;D-heavy segment.</a:t>
            </a:r>
          </a:p>
        </p:txBody>
      </p:sp>
      <p:sp>
        <p:nvSpPr>
          <p:cNvPr id="19" name="Rounded Rectangle 18"/>
          <p:cNvSpPr/>
          <p:nvPr/>
        </p:nvSpPr>
        <p:spPr>
          <a:xfrm>
            <a:off x="9116568" y="2697480"/>
            <a:ext cx="2615184" cy="2331720"/>
          </a:xfrm>
          <a:prstGeom prst="roundRect">
            <a:avLst>
              <a:gd name="adj" fmla="val 7000"/>
            </a:avLst>
          </a:prstGeom>
          <a:solidFill>
            <a:srgbClr val="F5F7FA"/>
          </a:solidFill>
          <a:ln>
            <a:noFill/>
          </a:ln>
          <a:effectLst/>
          <a:effectLst>
            <a:outerShdw blurRad="80000" dist="30000" dir="5400000" rotWithShape="0">
              <a:srgbClr val="1A2238">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16568" y="2697480"/>
            <a:ext cx="2615184" cy="128016"/>
          </a:xfrm>
          <a:prstGeom prst="rect">
            <a:avLst/>
          </a:prstGeom>
          <a:solidFill>
            <a:srgbClr val="5A6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72600" y="3063240"/>
            <a:ext cx="2148840" cy="822960"/>
          </a:xfrm>
          <a:prstGeom prst="rect">
            <a:avLst/>
          </a:prstGeom>
          <a:noFill/>
        </p:spPr>
        <p:txBody>
          <a:bodyPr wrap="square" anchor="t" lIns="0" rIns="0" tIns="0" bIns="0">
            <a:spAutoFit/>
          </a:bodyPr>
          <a:lstStyle/>
          <a:p>
            <a:pPr algn="l">
              <a:lnSpc>
                <a:spcPct val="100000"/>
              </a:lnSpc>
              <a:spcBef>
                <a:spcPts val="0"/>
              </a:spcBef>
              <a:spcAft>
                <a:spcPts val="600"/>
              </a:spcAft>
            </a:pPr>
            <a:r>
              <a:rPr sz="1650" b="1">
                <a:solidFill>
                  <a:srgbClr val="1A2238"/>
                </a:solidFill>
                <a:latin typeface="Calibri"/>
              </a:rPr>
              <a:t>Product anti-counterfeit</a:t>
            </a:r>
          </a:p>
        </p:txBody>
      </p:sp>
      <p:sp>
        <p:nvSpPr>
          <p:cNvPr id="22" name="TextBox 21"/>
          <p:cNvSpPr txBox="1"/>
          <p:nvPr/>
        </p:nvSpPr>
        <p:spPr>
          <a:xfrm>
            <a:off x="9372600" y="3840480"/>
            <a:ext cx="2148840" cy="1097280"/>
          </a:xfrm>
          <a:prstGeom prst="rect">
            <a:avLst/>
          </a:prstGeom>
          <a:noFill/>
        </p:spPr>
        <p:txBody>
          <a:bodyPr wrap="square" anchor="t" lIns="0" rIns="0" tIns="0" bIns="0">
            <a:spAutoFit/>
          </a:bodyPr>
          <a:lstStyle/>
          <a:p>
            <a:pPr algn="l">
              <a:lnSpc>
                <a:spcPct val="113000"/>
              </a:lnSpc>
              <a:spcBef>
                <a:spcPts val="0"/>
              </a:spcBef>
              <a:spcAft>
                <a:spcPts val="600"/>
              </a:spcAft>
            </a:pPr>
            <a:r>
              <a:rPr sz="1300" b="0">
                <a:solidFill>
                  <a:srgbClr val="5A6473"/>
                </a:solidFill>
                <a:latin typeface="Calibri"/>
              </a:rPr>
              <a:t>Marks in packaging and labels — a separate physical-goods world.</a:t>
            </a:r>
          </a:p>
        </p:txBody>
      </p:sp>
      <p:sp>
        <p:nvSpPr>
          <p:cNvPr id="23" name="TextBox 22"/>
          <p:cNvSpPr txBox="1"/>
          <p:nvPr/>
        </p:nvSpPr>
        <p:spPr>
          <a:xfrm>
            <a:off x="640080" y="5285232"/>
            <a:ext cx="10972800" cy="640080"/>
          </a:xfrm>
          <a:prstGeom prst="rect">
            <a:avLst/>
          </a:prstGeom>
          <a:noFill/>
        </p:spPr>
        <p:txBody>
          <a:bodyPr wrap="square" anchor="t" lIns="0" rIns="0" tIns="0" bIns="0">
            <a:spAutoFit/>
          </a:bodyPr>
          <a:lstStyle/>
          <a:p>
            <a:pPr algn="l">
              <a:lnSpc>
                <a:spcPct val="105000"/>
              </a:lnSpc>
              <a:spcBef>
                <a:spcPts val="0"/>
              </a:spcBef>
              <a:spcAft>
                <a:spcPts val="600"/>
              </a:spcAft>
            </a:pPr>
            <a:r>
              <a:rPr sz="1500" b="1">
                <a:solidFill>
                  <a:srgbClr val="1A2238"/>
                </a:solidFill>
                <a:latin typeface="Calibri"/>
              </a:rPr>
              <a:t>Tailwinds: </a:t>
            </a:r>
            <a:r>
              <a:rPr sz="1500" b="0">
                <a:solidFill>
                  <a:srgbClr val="5A6473"/>
                </a:solidFill>
                <a:latin typeface="Calibri"/>
              </a:rPr>
              <a:t>ever more image sharing online, and AI raising the stakes on provenance and authenticity.</a:t>
            </a:r>
          </a:p>
        </p:txBody>
      </p:sp>
      <p:sp>
        <p:nvSpPr>
          <p:cNvPr id="24" name="TextBox 23"/>
          <p:cNvSpPr txBox="1"/>
          <p:nvPr/>
        </p:nvSpPr>
        <p:spPr>
          <a:xfrm>
            <a:off x="640080" y="6455664"/>
            <a:ext cx="4572000" cy="274320"/>
          </a:xfrm>
          <a:prstGeom prst="rect">
            <a:avLst/>
          </a:prstGeom>
          <a:noFill/>
        </p:spPr>
        <p:txBody>
          <a:bodyPr wrap="square" anchor="t" lIns="0" rIns="0" tIns="0" bIns="0">
            <a:spAutoFit/>
          </a:bodyPr>
          <a:lstStyle/>
          <a:p>
            <a:pPr algn="l">
              <a:lnSpc>
                <a:spcPct val="105000"/>
              </a:lnSpc>
              <a:spcBef>
                <a:spcPts val="0"/>
              </a:spcBef>
              <a:spcAft>
                <a:spcPts val="600"/>
              </a:spcAft>
            </a:pPr>
            <a:r>
              <a:rPr sz="1000" b="1">
                <a:solidFill>
                  <a:srgbClr val="5A6473"/>
                </a:solidFill>
                <a:latin typeface="Calibri"/>
              </a:rPr>
              <a:t>Invisign</a:t>
            </a:r>
            <a:r>
              <a:rPr sz="1000" b="0">
                <a:solidFill>
                  <a:srgbClr val="5A6473"/>
                </a:solidFill>
                <a:latin typeface="Calibri"/>
              </a:rPr>
              <a:t>  ·  Capstone defense</a:t>
            </a:r>
          </a:p>
        </p:txBody>
      </p:sp>
      <p:sp>
        <p:nvSpPr>
          <p:cNvPr id="25" name="TextBox 24"/>
          <p:cNvSpPr txBox="1"/>
          <p:nvPr/>
        </p:nvSpPr>
        <p:spPr>
          <a:xfrm>
            <a:off x="10881360" y="6455664"/>
            <a:ext cx="91440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a:solidFill>
                  <a:srgbClr val="5A6473"/>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566928"/>
            <a:ext cx="502920" cy="82296"/>
          </a:xfrm>
          <a:prstGeom prst="rect">
            <a:avLst/>
          </a:prstGeom>
          <a:solidFill>
            <a:srgbClr val="1FA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0160" y="411480"/>
            <a:ext cx="9144000" cy="365760"/>
          </a:xfrm>
          <a:prstGeom prst="rect">
            <a:avLst/>
          </a:prstGeom>
          <a:noFill/>
        </p:spPr>
        <p:txBody>
          <a:bodyPr wrap="square" anchor="t" lIns="0" rIns="0" tIns="0" bIns="0">
            <a:spAutoFit/>
          </a:bodyPr>
          <a:lstStyle/>
          <a:p>
            <a:pPr algn="l">
              <a:lnSpc>
                <a:spcPct val="105000"/>
              </a:lnSpc>
              <a:spcBef>
                <a:spcPts val="0"/>
              </a:spcBef>
              <a:spcAft>
                <a:spcPts val="600"/>
              </a:spcAft>
            </a:pPr>
            <a:r>
              <a:rPr sz="1400" b="1">
                <a:solidFill>
                  <a:srgbClr val="1FA97D"/>
                </a:solidFill>
                <a:latin typeface="Calibri"/>
              </a:rPr>
              <a:t>LANDSCAPE</a:t>
            </a:r>
          </a:p>
        </p:txBody>
      </p:sp>
      <p:sp>
        <p:nvSpPr>
          <p:cNvPr id="4" name="TextBox 3"/>
          <p:cNvSpPr txBox="1"/>
          <p:nvPr/>
        </p:nvSpPr>
        <p:spPr>
          <a:xfrm>
            <a:off x="640080" y="841248"/>
            <a:ext cx="10972800" cy="914400"/>
          </a:xfrm>
          <a:prstGeom prst="rect">
            <a:avLst/>
          </a:prstGeom>
          <a:noFill/>
        </p:spPr>
        <p:txBody>
          <a:bodyPr wrap="square" anchor="t" lIns="0" rIns="0" tIns="0" bIns="0">
            <a:spAutoFit/>
          </a:bodyPr>
          <a:lstStyle/>
          <a:p>
            <a:pPr algn="l">
              <a:lnSpc>
                <a:spcPct val="100000"/>
              </a:lnSpc>
              <a:spcBef>
                <a:spcPts val="0"/>
              </a:spcBef>
              <a:spcAft>
                <a:spcPts val="600"/>
              </a:spcAft>
            </a:pPr>
            <a:r>
              <a:rPr sz="3000" b="1">
                <a:solidFill>
                  <a:srgbClr val="1A2238"/>
                </a:solidFill>
                <a:latin typeface="Calibri"/>
              </a:rPr>
              <a:t>Where Invisign sits among the players</a:t>
            </a:r>
          </a:p>
        </p:txBody>
      </p:sp>
      <p:sp>
        <p:nvSpPr>
          <p:cNvPr id="5" name="Rectangle 4"/>
          <p:cNvSpPr/>
          <p:nvPr/>
        </p:nvSpPr>
        <p:spPr>
          <a:xfrm>
            <a:off x="640080" y="1783080"/>
            <a:ext cx="10908792" cy="676656"/>
          </a:xfrm>
          <a:prstGeom prst="rect">
            <a:avLst/>
          </a:prstGeom>
          <a:solidFill>
            <a:srgbClr val="1A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956816"/>
            <a:ext cx="2377440" cy="457200"/>
          </a:xfrm>
          <a:prstGeom prst="rect">
            <a:avLst/>
          </a:prstGeom>
          <a:noFill/>
        </p:spPr>
        <p:txBody>
          <a:bodyPr wrap="square" anchor="t" lIns="0" rIns="0" tIns="0" bIns="0">
            <a:spAutoFit/>
          </a:bodyPr>
          <a:lstStyle/>
          <a:p>
            <a:pPr algn="l">
              <a:lnSpc>
                <a:spcPct val="105000"/>
              </a:lnSpc>
              <a:spcBef>
                <a:spcPts val="0"/>
              </a:spcBef>
              <a:spcAft>
                <a:spcPts val="600"/>
              </a:spcAft>
            </a:pPr>
            <a:r>
              <a:rPr sz="1450" b="1">
                <a:solidFill>
                  <a:srgbClr val="FFFFFF"/>
                </a:solidFill>
                <a:latin typeface="Calibri"/>
              </a:rPr>
              <a:t>Player</a:t>
            </a:r>
          </a:p>
        </p:txBody>
      </p:sp>
      <p:sp>
        <p:nvSpPr>
          <p:cNvPr id="7" name="TextBox 6"/>
          <p:cNvSpPr txBox="1"/>
          <p:nvPr/>
        </p:nvSpPr>
        <p:spPr>
          <a:xfrm>
            <a:off x="3493008" y="1956816"/>
            <a:ext cx="2377440" cy="457200"/>
          </a:xfrm>
          <a:prstGeom prst="rect">
            <a:avLst/>
          </a:prstGeom>
          <a:noFill/>
        </p:spPr>
        <p:txBody>
          <a:bodyPr wrap="square" anchor="t" lIns="0" rIns="0" tIns="0" bIns="0">
            <a:spAutoFit/>
          </a:bodyPr>
          <a:lstStyle/>
          <a:p>
            <a:pPr algn="l">
              <a:lnSpc>
                <a:spcPct val="105000"/>
              </a:lnSpc>
              <a:spcBef>
                <a:spcPts val="0"/>
              </a:spcBef>
              <a:spcAft>
                <a:spcPts val="600"/>
              </a:spcAft>
            </a:pPr>
            <a:r>
              <a:rPr sz="1450" b="1">
                <a:solidFill>
                  <a:srgbClr val="FFFFFF"/>
                </a:solidFill>
                <a:latin typeface="Calibri"/>
              </a:rPr>
              <a:t>Medium</a:t>
            </a:r>
          </a:p>
        </p:txBody>
      </p:sp>
      <p:sp>
        <p:nvSpPr>
          <p:cNvPr id="8" name="TextBox 7"/>
          <p:cNvSpPr txBox="1"/>
          <p:nvPr/>
        </p:nvSpPr>
        <p:spPr>
          <a:xfrm>
            <a:off x="6144768" y="1956816"/>
            <a:ext cx="3200400" cy="457200"/>
          </a:xfrm>
          <a:prstGeom prst="rect">
            <a:avLst/>
          </a:prstGeom>
          <a:noFill/>
        </p:spPr>
        <p:txBody>
          <a:bodyPr wrap="square" anchor="t" lIns="0" rIns="0" tIns="0" bIns="0">
            <a:spAutoFit/>
          </a:bodyPr>
          <a:lstStyle/>
          <a:p>
            <a:pPr algn="l">
              <a:lnSpc>
                <a:spcPct val="105000"/>
              </a:lnSpc>
              <a:spcBef>
                <a:spcPts val="0"/>
              </a:spcBef>
              <a:spcAft>
                <a:spcPts val="600"/>
              </a:spcAft>
            </a:pPr>
            <a:r>
              <a:rPr sz="1450" b="1">
                <a:solidFill>
                  <a:srgbClr val="FFFFFF"/>
                </a:solidFill>
                <a:latin typeface="Calibri"/>
              </a:rPr>
              <a:t>Core use case</a:t>
            </a:r>
          </a:p>
        </p:txBody>
      </p:sp>
      <p:sp>
        <p:nvSpPr>
          <p:cNvPr id="9" name="TextBox 8"/>
          <p:cNvSpPr txBox="1"/>
          <p:nvPr/>
        </p:nvSpPr>
        <p:spPr>
          <a:xfrm>
            <a:off x="9619488" y="1956816"/>
            <a:ext cx="1856232" cy="457200"/>
          </a:xfrm>
          <a:prstGeom prst="rect">
            <a:avLst/>
          </a:prstGeom>
          <a:noFill/>
        </p:spPr>
        <p:txBody>
          <a:bodyPr wrap="square" anchor="t" lIns="0" rIns="0" tIns="0" bIns="0">
            <a:spAutoFit/>
          </a:bodyPr>
          <a:lstStyle/>
          <a:p>
            <a:pPr algn="l">
              <a:lnSpc>
                <a:spcPct val="105000"/>
              </a:lnSpc>
              <a:spcBef>
                <a:spcPts val="0"/>
              </a:spcBef>
              <a:spcAft>
                <a:spcPts val="600"/>
              </a:spcAft>
            </a:pPr>
            <a:r>
              <a:rPr sz="1450" b="1">
                <a:solidFill>
                  <a:srgbClr val="FFFFFF"/>
                </a:solidFill>
                <a:latin typeface="Calibri"/>
              </a:rPr>
              <a:t>Relation</a:t>
            </a:r>
          </a:p>
        </p:txBody>
      </p:sp>
      <p:sp>
        <p:nvSpPr>
          <p:cNvPr id="10" name="Rectangle 9"/>
          <p:cNvSpPr/>
          <p:nvPr/>
        </p:nvSpPr>
        <p:spPr>
          <a:xfrm>
            <a:off x="640080" y="2459736"/>
            <a:ext cx="10908792" cy="676656"/>
          </a:xfrm>
          <a:prstGeom prst="rect">
            <a:avLst/>
          </a:prstGeom>
          <a:solidFill>
            <a:srgbClr val="EC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2633472"/>
            <a:ext cx="2377440" cy="457200"/>
          </a:xfrm>
          <a:prstGeom prst="rect">
            <a:avLst/>
          </a:prstGeom>
          <a:noFill/>
        </p:spPr>
        <p:txBody>
          <a:bodyPr wrap="square" anchor="t" lIns="0" rIns="0" tIns="0" bIns="0">
            <a:spAutoFit/>
          </a:bodyPr>
          <a:lstStyle/>
          <a:p>
            <a:pPr algn="l">
              <a:lnSpc>
                <a:spcPct val="105000"/>
              </a:lnSpc>
              <a:spcBef>
                <a:spcPts val="0"/>
              </a:spcBef>
              <a:spcAft>
                <a:spcPts val="600"/>
              </a:spcAft>
            </a:pPr>
            <a:r>
              <a:rPr sz="1400" b="1">
                <a:solidFill>
                  <a:srgbClr val="1FA97D"/>
                </a:solidFill>
                <a:latin typeface="Calibri"/>
              </a:rPr>
              <a:t>Invisign</a:t>
            </a:r>
          </a:p>
        </p:txBody>
      </p:sp>
      <p:sp>
        <p:nvSpPr>
          <p:cNvPr id="12" name="TextBox 11"/>
          <p:cNvSpPr txBox="1"/>
          <p:nvPr/>
        </p:nvSpPr>
        <p:spPr>
          <a:xfrm>
            <a:off x="3493008" y="2633472"/>
            <a:ext cx="2377440" cy="457200"/>
          </a:xfrm>
          <a:prstGeom prst="rect">
            <a:avLst/>
          </a:prstGeom>
          <a:noFill/>
        </p:spPr>
        <p:txBody>
          <a:bodyPr wrap="square" anchor="t" lIns="0" rIns="0" tIns="0" bIns="0">
            <a:spAutoFit/>
          </a:bodyPr>
          <a:lstStyle/>
          <a:p>
            <a:pPr algn="l">
              <a:lnSpc>
                <a:spcPct val="105000"/>
              </a:lnSpc>
              <a:spcBef>
                <a:spcPts val="0"/>
              </a:spcBef>
              <a:spcAft>
                <a:spcPts val="600"/>
              </a:spcAft>
            </a:pPr>
            <a:r>
              <a:rPr sz="1400" b="0">
                <a:solidFill>
                  <a:srgbClr val="5A6473"/>
                </a:solidFill>
                <a:latin typeface="Calibri"/>
              </a:rPr>
              <a:t>Still images</a:t>
            </a:r>
          </a:p>
        </p:txBody>
      </p:sp>
      <p:sp>
        <p:nvSpPr>
          <p:cNvPr id="13" name="TextBox 12"/>
          <p:cNvSpPr txBox="1"/>
          <p:nvPr/>
        </p:nvSpPr>
        <p:spPr>
          <a:xfrm>
            <a:off x="6144768" y="2633472"/>
            <a:ext cx="3200400" cy="457200"/>
          </a:xfrm>
          <a:prstGeom prst="rect">
            <a:avLst/>
          </a:prstGeom>
          <a:noFill/>
        </p:spPr>
        <p:txBody>
          <a:bodyPr wrap="square" anchor="t" lIns="0" rIns="0" tIns="0" bIns="0">
            <a:spAutoFit/>
          </a:bodyPr>
          <a:lstStyle/>
          <a:p>
            <a:pPr algn="l">
              <a:lnSpc>
                <a:spcPct val="105000"/>
              </a:lnSpc>
              <a:spcBef>
                <a:spcPts val="0"/>
              </a:spcBef>
              <a:spcAft>
                <a:spcPts val="600"/>
              </a:spcAft>
            </a:pPr>
            <a:r>
              <a:rPr sz="1400" b="0">
                <a:solidFill>
                  <a:srgbClr val="5A6473"/>
                </a:solidFill>
                <a:latin typeface="Calibri"/>
              </a:rPr>
              <a:t>Owner-held leak tracing</a:t>
            </a:r>
          </a:p>
        </p:txBody>
      </p:sp>
      <p:sp>
        <p:nvSpPr>
          <p:cNvPr id="14" name="TextBox 13"/>
          <p:cNvSpPr txBox="1"/>
          <p:nvPr/>
        </p:nvSpPr>
        <p:spPr>
          <a:xfrm>
            <a:off x="9619488" y="2633472"/>
            <a:ext cx="1856232" cy="457200"/>
          </a:xfrm>
          <a:prstGeom prst="rect">
            <a:avLst/>
          </a:prstGeom>
          <a:noFill/>
        </p:spPr>
        <p:txBody>
          <a:bodyPr wrap="square" anchor="t" lIns="0" rIns="0" tIns="0" bIns="0">
            <a:spAutoFit/>
          </a:bodyPr>
          <a:lstStyle/>
          <a:p>
            <a:pPr algn="l">
              <a:lnSpc>
                <a:spcPct val="105000"/>
              </a:lnSpc>
              <a:spcBef>
                <a:spcPts val="0"/>
              </a:spcBef>
              <a:spcAft>
                <a:spcPts val="600"/>
              </a:spcAft>
            </a:pPr>
            <a:r>
              <a:rPr sz="1400" b="0">
                <a:solidFill>
                  <a:srgbClr val="5A6473"/>
                </a:solidFill>
                <a:latin typeface="Calibri"/>
              </a:rPr>
              <a:t>This project</a:t>
            </a:r>
          </a:p>
        </p:txBody>
      </p:sp>
      <p:sp>
        <p:nvSpPr>
          <p:cNvPr id="15" name="Rectangle 14"/>
          <p:cNvSpPr/>
          <p:nvPr/>
        </p:nvSpPr>
        <p:spPr>
          <a:xfrm>
            <a:off x="640080" y="3136392"/>
            <a:ext cx="10908792"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3310128"/>
            <a:ext cx="2377440" cy="457200"/>
          </a:xfrm>
          <a:prstGeom prst="rect">
            <a:avLst/>
          </a:prstGeom>
          <a:noFill/>
        </p:spPr>
        <p:txBody>
          <a:bodyPr wrap="square" anchor="t" lIns="0" rIns="0" tIns="0" bIns="0">
            <a:spAutoFit/>
          </a:bodyPr>
          <a:lstStyle/>
          <a:p>
            <a:pPr algn="l">
              <a:lnSpc>
                <a:spcPct val="105000"/>
              </a:lnSpc>
              <a:spcBef>
                <a:spcPts val="0"/>
              </a:spcBef>
              <a:spcAft>
                <a:spcPts val="600"/>
              </a:spcAft>
            </a:pPr>
            <a:r>
              <a:rPr sz="1400" b="1">
                <a:solidFill>
                  <a:srgbClr val="1A2238"/>
                </a:solidFill>
                <a:latin typeface="Calibri"/>
              </a:rPr>
              <a:t>IMATAG</a:t>
            </a:r>
          </a:p>
        </p:txBody>
      </p:sp>
      <p:sp>
        <p:nvSpPr>
          <p:cNvPr id="17" name="TextBox 16"/>
          <p:cNvSpPr txBox="1"/>
          <p:nvPr/>
        </p:nvSpPr>
        <p:spPr>
          <a:xfrm>
            <a:off x="3493008" y="3310128"/>
            <a:ext cx="2377440" cy="457200"/>
          </a:xfrm>
          <a:prstGeom prst="rect">
            <a:avLst/>
          </a:prstGeom>
          <a:noFill/>
        </p:spPr>
        <p:txBody>
          <a:bodyPr wrap="square" anchor="t" lIns="0" rIns="0" tIns="0" bIns="0">
            <a:spAutoFit/>
          </a:bodyPr>
          <a:lstStyle/>
          <a:p>
            <a:pPr algn="l">
              <a:lnSpc>
                <a:spcPct val="105000"/>
              </a:lnSpc>
              <a:spcBef>
                <a:spcPts val="0"/>
              </a:spcBef>
              <a:spcAft>
                <a:spcPts val="600"/>
              </a:spcAft>
            </a:pPr>
            <a:r>
              <a:rPr sz="1400" b="0">
                <a:solidFill>
                  <a:srgbClr val="5A6473"/>
                </a:solidFill>
                <a:latin typeface="Calibri"/>
              </a:rPr>
              <a:t>Images (+video)</a:t>
            </a:r>
          </a:p>
        </p:txBody>
      </p:sp>
      <p:sp>
        <p:nvSpPr>
          <p:cNvPr id="18" name="TextBox 17"/>
          <p:cNvSpPr txBox="1"/>
          <p:nvPr/>
        </p:nvSpPr>
        <p:spPr>
          <a:xfrm>
            <a:off x="6144768" y="3310128"/>
            <a:ext cx="3200400" cy="457200"/>
          </a:xfrm>
          <a:prstGeom prst="rect">
            <a:avLst/>
          </a:prstGeom>
          <a:noFill/>
        </p:spPr>
        <p:txBody>
          <a:bodyPr wrap="square" anchor="t" lIns="0" rIns="0" tIns="0" bIns="0">
            <a:spAutoFit/>
          </a:bodyPr>
          <a:lstStyle/>
          <a:p>
            <a:pPr algn="l">
              <a:lnSpc>
                <a:spcPct val="105000"/>
              </a:lnSpc>
              <a:spcBef>
                <a:spcPts val="0"/>
              </a:spcBef>
              <a:spcAft>
                <a:spcPts val="600"/>
              </a:spcAft>
            </a:pPr>
            <a:r>
              <a:rPr sz="1400" b="0">
                <a:solidFill>
                  <a:srgbClr val="5A6473"/>
                </a:solidFill>
                <a:latin typeface="Calibri"/>
              </a:rPr>
              <a:t>Leak tracing + web monitoring</a:t>
            </a:r>
          </a:p>
        </p:txBody>
      </p:sp>
      <p:sp>
        <p:nvSpPr>
          <p:cNvPr id="19" name="TextBox 18"/>
          <p:cNvSpPr txBox="1"/>
          <p:nvPr/>
        </p:nvSpPr>
        <p:spPr>
          <a:xfrm>
            <a:off x="9619488" y="3310128"/>
            <a:ext cx="1856232" cy="457200"/>
          </a:xfrm>
          <a:prstGeom prst="rect">
            <a:avLst/>
          </a:prstGeom>
          <a:noFill/>
        </p:spPr>
        <p:txBody>
          <a:bodyPr wrap="square" anchor="t" lIns="0" rIns="0" tIns="0" bIns="0">
            <a:spAutoFit/>
          </a:bodyPr>
          <a:lstStyle/>
          <a:p>
            <a:pPr algn="l">
              <a:lnSpc>
                <a:spcPct val="105000"/>
              </a:lnSpc>
              <a:spcBef>
                <a:spcPts val="0"/>
              </a:spcBef>
              <a:spcAft>
                <a:spcPts val="600"/>
              </a:spcAft>
            </a:pPr>
            <a:r>
              <a:rPr sz="1400" b="0">
                <a:solidFill>
                  <a:srgbClr val="5A6473"/>
                </a:solidFill>
                <a:latin typeface="Calibri"/>
              </a:rPr>
              <a:t>Closest analog</a:t>
            </a:r>
          </a:p>
        </p:txBody>
      </p:sp>
      <p:sp>
        <p:nvSpPr>
          <p:cNvPr id="20" name="Rectangle 19"/>
          <p:cNvSpPr/>
          <p:nvPr/>
        </p:nvSpPr>
        <p:spPr>
          <a:xfrm>
            <a:off x="640080" y="3813048"/>
            <a:ext cx="10908792" cy="676656"/>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 y="3986784"/>
            <a:ext cx="2377440" cy="457200"/>
          </a:xfrm>
          <a:prstGeom prst="rect">
            <a:avLst/>
          </a:prstGeom>
          <a:noFill/>
        </p:spPr>
        <p:txBody>
          <a:bodyPr wrap="square" anchor="t" lIns="0" rIns="0" tIns="0" bIns="0">
            <a:spAutoFit/>
          </a:bodyPr>
          <a:lstStyle/>
          <a:p>
            <a:pPr algn="l">
              <a:lnSpc>
                <a:spcPct val="105000"/>
              </a:lnSpc>
              <a:spcBef>
                <a:spcPts val="0"/>
              </a:spcBef>
              <a:spcAft>
                <a:spcPts val="600"/>
              </a:spcAft>
            </a:pPr>
            <a:r>
              <a:rPr sz="1400" b="1">
                <a:solidFill>
                  <a:srgbClr val="1A2238"/>
                </a:solidFill>
                <a:latin typeface="Calibri"/>
              </a:rPr>
              <a:t>Digimarc</a:t>
            </a:r>
          </a:p>
        </p:txBody>
      </p:sp>
      <p:sp>
        <p:nvSpPr>
          <p:cNvPr id="22" name="TextBox 21"/>
          <p:cNvSpPr txBox="1"/>
          <p:nvPr/>
        </p:nvSpPr>
        <p:spPr>
          <a:xfrm>
            <a:off x="3493008" y="3986784"/>
            <a:ext cx="2377440" cy="457200"/>
          </a:xfrm>
          <a:prstGeom prst="rect">
            <a:avLst/>
          </a:prstGeom>
          <a:noFill/>
        </p:spPr>
        <p:txBody>
          <a:bodyPr wrap="square" anchor="t" lIns="0" rIns="0" tIns="0" bIns="0">
            <a:spAutoFit/>
          </a:bodyPr>
          <a:lstStyle/>
          <a:p>
            <a:pPr algn="l">
              <a:lnSpc>
                <a:spcPct val="105000"/>
              </a:lnSpc>
              <a:spcBef>
                <a:spcPts val="0"/>
              </a:spcBef>
              <a:spcAft>
                <a:spcPts val="600"/>
              </a:spcAft>
            </a:pPr>
            <a:r>
              <a:rPr sz="1400" b="0">
                <a:solidFill>
                  <a:srgbClr val="5A6473"/>
                </a:solidFill>
                <a:latin typeface="Calibri"/>
              </a:rPr>
              <a:t>Images, audio, packaging</a:t>
            </a:r>
          </a:p>
        </p:txBody>
      </p:sp>
      <p:sp>
        <p:nvSpPr>
          <p:cNvPr id="23" name="TextBox 22"/>
          <p:cNvSpPr txBox="1"/>
          <p:nvPr/>
        </p:nvSpPr>
        <p:spPr>
          <a:xfrm>
            <a:off x="6144768" y="3986784"/>
            <a:ext cx="3200400" cy="457200"/>
          </a:xfrm>
          <a:prstGeom prst="rect">
            <a:avLst/>
          </a:prstGeom>
          <a:noFill/>
        </p:spPr>
        <p:txBody>
          <a:bodyPr wrap="square" anchor="t" lIns="0" rIns="0" tIns="0" bIns="0">
            <a:spAutoFit/>
          </a:bodyPr>
          <a:lstStyle/>
          <a:p>
            <a:pPr algn="l">
              <a:lnSpc>
                <a:spcPct val="105000"/>
              </a:lnSpc>
              <a:spcBef>
                <a:spcPts val="0"/>
              </a:spcBef>
              <a:spcAft>
                <a:spcPts val="600"/>
              </a:spcAft>
            </a:pPr>
            <a:r>
              <a:rPr sz="1400" b="0">
                <a:solidFill>
                  <a:srgbClr val="5A6473"/>
                </a:solidFill>
                <a:latin typeface="Calibri"/>
              </a:rPr>
              <a:t>Broad watermarking platform</a:t>
            </a:r>
          </a:p>
        </p:txBody>
      </p:sp>
      <p:sp>
        <p:nvSpPr>
          <p:cNvPr id="24" name="TextBox 23"/>
          <p:cNvSpPr txBox="1"/>
          <p:nvPr/>
        </p:nvSpPr>
        <p:spPr>
          <a:xfrm>
            <a:off x="9619488" y="3986784"/>
            <a:ext cx="1856232" cy="457200"/>
          </a:xfrm>
          <a:prstGeom prst="rect">
            <a:avLst/>
          </a:prstGeom>
          <a:noFill/>
        </p:spPr>
        <p:txBody>
          <a:bodyPr wrap="square" anchor="t" lIns="0" rIns="0" tIns="0" bIns="0">
            <a:spAutoFit/>
          </a:bodyPr>
          <a:lstStyle/>
          <a:p>
            <a:pPr algn="l">
              <a:lnSpc>
                <a:spcPct val="105000"/>
              </a:lnSpc>
              <a:spcBef>
                <a:spcPts val="0"/>
              </a:spcBef>
              <a:spcAft>
                <a:spcPts val="600"/>
              </a:spcAft>
            </a:pPr>
            <a:r>
              <a:rPr sz="1400" b="0">
                <a:solidFill>
                  <a:srgbClr val="5A6473"/>
                </a:solidFill>
                <a:latin typeface="Calibri"/>
              </a:rPr>
              <a:t>Broader incumbent</a:t>
            </a:r>
          </a:p>
        </p:txBody>
      </p:sp>
      <p:sp>
        <p:nvSpPr>
          <p:cNvPr id="25" name="Rectangle 24"/>
          <p:cNvSpPr/>
          <p:nvPr/>
        </p:nvSpPr>
        <p:spPr>
          <a:xfrm>
            <a:off x="640080" y="4489704"/>
            <a:ext cx="10908792"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4663440"/>
            <a:ext cx="2377440" cy="457200"/>
          </a:xfrm>
          <a:prstGeom prst="rect">
            <a:avLst/>
          </a:prstGeom>
          <a:noFill/>
        </p:spPr>
        <p:txBody>
          <a:bodyPr wrap="square" anchor="t" lIns="0" rIns="0" tIns="0" bIns="0">
            <a:spAutoFit/>
          </a:bodyPr>
          <a:lstStyle/>
          <a:p>
            <a:pPr algn="l">
              <a:lnSpc>
                <a:spcPct val="105000"/>
              </a:lnSpc>
              <a:spcBef>
                <a:spcPts val="0"/>
              </a:spcBef>
              <a:spcAft>
                <a:spcPts val="600"/>
              </a:spcAft>
            </a:pPr>
            <a:r>
              <a:rPr sz="1400" b="1">
                <a:solidFill>
                  <a:srgbClr val="1A2238"/>
                </a:solidFill>
                <a:latin typeface="Calibri"/>
              </a:rPr>
              <a:t>Verimatrix / NexGuard</a:t>
            </a:r>
          </a:p>
        </p:txBody>
      </p:sp>
      <p:sp>
        <p:nvSpPr>
          <p:cNvPr id="27" name="TextBox 26"/>
          <p:cNvSpPr txBox="1"/>
          <p:nvPr/>
        </p:nvSpPr>
        <p:spPr>
          <a:xfrm>
            <a:off x="3493008" y="4663440"/>
            <a:ext cx="2377440" cy="457200"/>
          </a:xfrm>
          <a:prstGeom prst="rect">
            <a:avLst/>
          </a:prstGeom>
          <a:noFill/>
        </p:spPr>
        <p:txBody>
          <a:bodyPr wrap="square" anchor="t" lIns="0" rIns="0" tIns="0" bIns="0">
            <a:spAutoFit/>
          </a:bodyPr>
          <a:lstStyle/>
          <a:p>
            <a:pPr algn="l">
              <a:lnSpc>
                <a:spcPct val="105000"/>
              </a:lnSpc>
              <a:spcBef>
                <a:spcPts val="0"/>
              </a:spcBef>
              <a:spcAft>
                <a:spcPts val="600"/>
              </a:spcAft>
            </a:pPr>
            <a:r>
              <a:rPr sz="1400" b="0">
                <a:solidFill>
                  <a:srgbClr val="5A6473"/>
                </a:solidFill>
                <a:latin typeface="Calibri"/>
              </a:rPr>
              <a:t>Video (cinema, OTT)</a:t>
            </a:r>
          </a:p>
        </p:txBody>
      </p:sp>
      <p:sp>
        <p:nvSpPr>
          <p:cNvPr id="28" name="TextBox 27"/>
          <p:cNvSpPr txBox="1"/>
          <p:nvPr/>
        </p:nvSpPr>
        <p:spPr>
          <a:xfrm>
            <a:off x="6144768" y="4663440"/>
            <a:ext cx="3200400" cy="457200"/>
          </a:xfrm>
          <a:prstGeom prst="rect">
            <a:avLst/>
          </a:prstGeom>
          <a:noFill/>
        </p:spPr>
        <p:txBody>
          <a:bodyPr wrap="square" anchor="t" lIns="0" rIns="0" tIns="0" bIns="0">
            <a:spAutoFit/>
          </a:bodyPr>
          <a:lstStyle/>
          <a:p>
            <a:pPr algn="l">
              <a:lnSpc>
                <a:spcPct val="105000"/>
              </a:lnSpc>
              <a:spcBef>
                <a:spcPts val="0"/>
              </a:spcBef>
              <a:spcAft>
                <a:spcPts val="600"/>
              </a:spcAft>
            </a:pPr>
            <a:r>
              <a:rPr sz="1400" b="0">
                <a:solidFill>
                  <a:srgbClr val="5A6473"/>
                </a:solidFill>
                <a:latin typeface="Calibri"/>
              </a:rPr>
              <a:t>Per-copy leak tracing</a:t>
            </a:r>
          </a:p>
        </p:txBody>
      </p:sp>
      <p:sp>
        <p:nvSpPr>
          <p:cNvPr id="29" name="TextBox 28"/>
          <p:cNvSpPr txBox="1"/>
          <p:nvPr/>
        </p:nvSpPr>
        <p:spPr>
          <a:xfrm>
            <a:off x="9619488" y="4663440"/>
            <a:ext cx="1856232" cy="457200"/>
          </a:xfrm>
          <a:prstGeom prst="rect">
            <a:avLst/>
          </a:prstGeom>
          <a:noFill/>
        </p:spPr>
        <p:txBody>
          <a:bodyPr wrap="square" anchor="t" lIns="0" rIns="0" tIns="0" bIns="0">
            <a:spAutoFit/>
          </a:bodyPr>
          <a:lstStyle/>
          <a:p>
            <a:pPr algn="l">
              <a:lnSpc>
                <a:spcPct val="105000"/>
              </a:lnSpc>
              <a:spcBef>
                <a:spcPts val="0"/>
              </a:spcBef>
              <a:spcAft>
                <a:spcPts val="600"/>
              </a:spcAft>
            </a:pPr>
            <a:r>
              <a:rPr sz="1400" b="0">
                <a:solidFill>
                  <a:srgbClr val="5A6473"/>
                </a:solidFill>
                <a:latin typeface="Calibri"/>
              </a:rPr>
              <a:t>Same model, video</a:t>
            </a:r>
          </a:p>
        </p:txBody>
      </p:sp>
      <p:sp>
        <p:nvSpPr>
          <p:cNvPr id="30" name="Rectangle 29"/>
          <p:cNvSpPr/>
          <p:nvPr/>
        </p:nvSpPr>
        <p:spPr>
          <a:xfrm>
            <a:off x="640080" y="5166360"/>
            <a:ext cx="10908792" cy="676656"/>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8" y="5340096"/>
            <a:ext cx="2377440" cy="457200"/>
          </a:xfrm>
          <a:prstGeom prst="rect">
            <a:avLst/>
          </a:prstGeom>
          <a:noFill/>
        </p:spPr>
        <p:txBody>
          <a:bodyPr wrap="square" anchor="t" lIns="0" rIns="0" tIns="0" bIns="0">
            <a:spAutoFit/>
          </a:bodyPr>
          <a:lstStyle/>
          <a:p>
            <a:pPr algn="l">
              <a:lnSpc>
                <a:spcPct val="105000"/>
              </a:lnSpc>
              <a:spcBef>
                <a:spcPts val="0"/>
              </a:spcBef>
              <a:spcAft>
                <a:spcPts val="600"/>
              </a:spcAft>
            </a:pPr>
            <a:r>
              <a:rPr sz="1400" b="1">
                <a:solidFill>
                  <a:srgbClr val="1A2238"/>
                </a:solidFill>
                <a:latin typeface="Calibri"/>
              </a:rPr>
              <a:t>C2PA · SynthID</a:t>
            </a:r>
          </a:p>
        </p:txBody>
      </p:sp>
      <p:sp>
        <p:nvSpPr>
          <p:cNvPr id="32" name="TextBox 31"/>
          <p:cNvSpPr txBox="1"/>
          <p:nvPr/>
        </p:nvSpPr>
        <p:spPr>
          <a:xfrm>
            <a:off x="3493008" y="5340096"/>
            <a:ext cx="2377440" cy="457200"/>
          </a:xfrm>
          <a:prstGeom prst="rect">
            <a:avLst/>
          </a:prstGeom>
          <a:noFill/>
        </p:spPr>
        <p:txBody>
          <a:bodyPr wrap="square" anchor="t" lIns="0" rIns="0" tIns="0" bIns="0">
            <a:spAutoFit/>
          </a:bodyPr>
          <a:lstStyle/>
          <a:p>
            <a:pPr algn="l">
              <a:lnSpc>
                <a:spcPct val="105000"/>
              </a:lnSpc>
              <a:spcBef>
                <a:spcPts val="0"/>
              </a:spcBef>
              <a:spcAft>
                <a:spcPts val="600"/>
              </a:spcAft>
            </a:pPr>
            <a:r>
              <a:rPr sz="1400" b="0">
                <a:solidFill>
                  <a:srgbClr val="5A6473"/>
                </a:solidFill>
                <a:latin typeface="Calibri"/>
              </a:rPr>
              <a:t>Cross-media</a:t>
            </a:r>
          </a:p>
        </p:txBody>
      </p:sp>
      <p:sp>
        <p:nvSpPr>
          <p:cNvPr id="33" name="TextBox 32"/>
          <p:cNvSpPr txBox="1"/>
          <p:nvPr/>
        </p:nvSpPr>
        <p:spPr>
          <a:xfrm>
            <a:off x="6144768" y="5340096"/>
            <a:ext cx="3200400" cy="457200"/>
          </a:xfrm>
          <a:prstGeom prst="rect">
            <a:avLst/>
          </a:prstGeom>
          <a:noFill/>
        </p:spPr>
        <p:txBody>
          <a:bodyPr wrap="square" anchor="t" lIns="0" rIns="0" tIns="0" bIns="0">
            <a:spAutoFit/>
          </a:bodyPr>
          <a:lstStyle/>
          <a:p>
            <a:pPr algn="l">
              <a:lnSpc>
                <a:spcPct val="105000"/>
              </a:lnSpc>
              <a:spcBef>
                <a:spcPts val="0"/>
              </a:spcBef>
              <a:spcAft>
                <a:spcPts val="600"/>
              </a:spcAft>
            </a:pPr>
            <a:r>
              <a:rPr sz="1400" b="0">
                <a:solidFill>
                  <a:srgbClr val="5A6473"/>
                </a:solidFill>
                <a:latin typeface="Calibri"/>
              </a:rPr>
              <a:t>AI-content provenance</a:t>
            </a:r>
          </a:p>
        </p:txBody>
      </p:sp>
      <p:sp>
        <p:nvSpPr>
          <p:cNvPr id="34" name="TextBox 33"/>
          <p:cNvSpPr txBox="1"/>
          <p:nvPr/>
        </p:nvSpPr>
        <p:spPr>
          <a:xfrm>
            <a:off x="9619488" y="5340096"/>
            <a:ext cx="1856232" cy="457200"/>
          </a:xfrm>
          <a:prstGeom prst="rect">
            <a:avLst/>
          </a:prstGeom>
          <a:noFill/>
        </p:spPr>
        <p:txBody>
          <a:bodyPr wrap="square" anchor="t" lIns="0" rIns="0" tIns="0" bIns="0">
            <a:spAutoFit/>
          </a:bodyPr>
          <a:lstStyle/>
          <a:p>
            <a:pPr algn="l">
              <a:lnSpc>
                <a:spcPct val="105000"/>
              </a:lnSpc>
              <a:spcBef>
                <a:spcPts val="0"/>
              </a:spcBef>
              <a:spcAft>
                <a:spcPts val="600"/>
              </a:spcAft>
            </a:pPr>
            <a:r>
              <a:rPr sz="1400" b="0">
                <a:solidFill>
                  <a:srgbClr val="5A6473"/>
                </a:solidFill>
                <a:latin typeface="Calibri"/>
              </a:rPr>
              <a:t>Adjacent, not competing</a:t>
            </a:r>
          </a:p>
        </p:txBody>
      </p:sp>
      <p:sp>
        <p:nvSpPr>
          <p:cNvPr id="35" name="TextBox 34"/>
          <p:cNvSpPr txBox="1"/>
          <p:nvPr/>
        </p:nvSpPr>
        <p:spPr>
          <a:xfrm>
            <a:off x="640080" y="6455664"/>
            <a:ext cx="4572000" cy="274320"/>
          </a:xfrm>
          <a:prstGeom prst="rect">
            <a:avLst/>
          </a:prstGeom>
          <a:noFill/>
        </p:spPr>
        <p:txBody>
          <a:bodyPr wrap="square" anchor="t" lIns="0" rIns="0" tIns="0" bIns="0">
            <a:spAutoFit/>
          </a:bodyPr>
          <a:lstStyle/>
          <a:p>
            <a:pPr algn="l">
              <a:lnSpc>
                <a:spcPct val="105000"/>
              </a:lnSpc>
              <a:spcBef>
                <a:spcPts val="0"/>
              </a:spcBef>
              <a:spcAft>
                <a:spcPts val="600"/>
              </a:spcAft>
            </a:pPr>
            <a:r>
              <a:rPr sz="1000" b="1">
                <a:solidFill>
                  <a:srgbClr val="5A6473"/>
                </a:solidFill>
                <a:latin typeface="Calibri"/>
              </a:rPr>
              <a:t>Invisign</a:t>
            </a:r>
            <a:r>
              <a:rPr sz="1000" b="0">
                <a:solidFill>
                  <a:srgbClr val="5A6473"/>
                </a:solidFill>
                <a:latin typeface="Calibri"/>
              </a:rPr>
              <a:t>  ·  Capstone defense</a:t>
            </a:r>
          </a:p>
        </p:txBody>
      </p:sp>
      <p:sp>
        <p:nvSpPr>
          <p:cNvPr id="36" name="TextBox 35"/>
          <p:cNvSpPr txBox="1"/>
          <p:nvPr/>
        </p:nvSpPr>
        <p:spPr>
          <a:xfrm>
            <a:off x="10881360" y="6455664"/>
            <a:ext cx="91440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a:solidFill>
                  <a:srgbClr val="5A6473"/>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566928"/>
            <a:ext cx="502920"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0160" y="411480"/>
            <a:ext cx="9144000" cy="365760"/>
          </a:xfrm>
          <a:prstGeom prst="rect">
            <a:avLst/>
          </a:prstGeom>
          <a:noFill/>
        </p:spPr>
        <p:txBody>
          <a:bodyPr wrap="square" anchor="t" lIns="0" rIns="0" tIns="0" bIns="0">
            <a:spAutoFit/>
          </a:bodyPr>
          <a:lstStyle/>
          <a:p>
            <a:pPr algn="l">
              <a:lnSpc>
                <a:spcPct val="105000"/>
              </a:lnSpc>
              <a:spcBef>
                <a:spcPts val="0"/>
              </a:spcBef>
              <a:spcAft>
                <a:spcPts val="600"/>
              </a:spcAft>
            </a:pPr>
            <a:r>
              <a:rPr sz="1400" b="1">
                <a:solidFill>
                  <a:srgbClr val="2E86AB"/>
                </a:solidFill>
                <a:latin typeface="Calibri"/>
              </a:rPr>
              <a:t>ROADMAP</a:t>
            </a:r>
          </a:p>
        </p:txBody>
      </p:sp>
      <p:sp>
        <p:nvSpPr>
          <p:cNvPr id="4" name="TextBox 3"/>
          <p:cNvSpPr txBox="1"/>
          <p:nvPr/>
        </p:nvSpPr>
        <p:spPr>
          <a:xfrm>
            <a:off x="640080" y="841248"/>
            <a:ext cx="10972800" cy="914400"/>
          </a:xfrm>
          <a:prstGeom prst="rect">
            <a:avLst/>
          </a:prstGeom>
          <a:noFill/>
        </p:spPr>
        <p:txBody>
          <a:bodyPr wrap="square" anchor="t" lIns="0" rIns="0" tIns="0" bIns="0">
            <a:spAutoFit/>
          </a:bodyPr>
          <a:lstStyle/>
          <a:p>
            <a:pPr algn="l">
              <a:lnSpc>
                <a:spcPct val="100000"/>
              </a:lnSpc>
              <a:spcBef>
                <a:spcPts val="0"/>
              </a:spcBef>
              <a:spcAft>
                <a:spcPts val="600"/>
              </a:spcAft>
            </a:pPr>
            <a:r>
              <a:rPr sz="3000" b="1">
                <a:solidFill>
                  <a:srgbClr val="1A2238"/>
                </a:solidFill>
                <a:latin typeface="Calibri"/>
              </a:rPr>
              <a:t>From demonstrator to product</a:t>
            </a:r>
          </a:p>
        </p:txBody>
      </p:sp>
      <p:sp>
        <p:nvSpPr>
          <p:cNvPr id="5" name="TextBox 4"/>
          <p:cNvSpPr txBox="1"/>
          <p:nvPr/>
        </p:nvSpPr>
        <p:spPr>
          <a:xfrm>
            <a:off x="640080" y="1554480"/>
            <a:ext cx="10972800" cy="548640"/>
          </a:xfrm>
          <a:prstGeom prst="rect">
            <a:avLst/>
          </a:prstGeom>
          <a:noFill/>
        </p:spPr>
        <p:txBody>
          <a:bodyPr wrap="square" anchor="t" lIns="0" rIns="0" tIns="0" bIns="0">
            <a:spAutoFit/>
          </a:bodyPr>
          <a:lstStyle/>
          <a:p>
            <a:pPr algn="l">
              <a:lnSpc>
                <a:spcPct val="105000"/>
              </a:lnSpc>
              <a:spcBef>
                <a:spcPts val="0"/>
              </a:spcBef>
              <a:spcAft>
                <a:spcPts val="600"/>
              </a:spcAft>
            </a:pPr>
            <a:r>
              <a:rPr sz="1700" b="0">
                <a:solidFill>
                  <a:srgbClr val="5A6473"/>
                </a:solidFill>
                <a:latin typeface="Calibri"/>
              </a:rPr>
              <a:t>The core works. These are the build-outs that turn it into a full commercial offering:</a:t>
            </a:r>
          </a:p>
        </p:txBody>
      </p:sp>
      <p:sp>
        <p:nvSpPr>
          <p:cNvPr id="6" name="Rounded Rectangle 5"/>
          <p:cNvSpPr/>
          <p:nvPr/>
        </p:nvSpPr>
        <p:spPr>
          <a:xfrm>
            <a:off x="640080" y="2331720"/>
            <a:ext cx="10908792" cy="1051560"/>
          </a:xfrm>
          <a:prstGeom prst="roundRect">
            <a:avLst>
              <a:gd name="adj" fmla="val 7000"/>
            </a:avLst>
          </a:prstGeom>
          <a:solidFill>
            <a:srgbClr val="F5F7FA"/>
          </a:solidFill>
          <a:ln>
            <a:noFill/>
          </a:ln>
          <a:effectLst/>
          <a:effectLst>
            <a:outerShdw blurRad="80000" dist="30000" dir="5400000" rotWithShape="0">
              <a:srgbClr val="1A2238">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68680" y="2532888"/>
            <a:ext cx="658368" cy="658368"/>
          </a:xfrm>
          <a:prstGeom prst="ellipse">
            <a:avLst/>
          </a:prstGeom>
          <a:solidFill>
            <a:srgbClr val="DDE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nut 7"/>
          <p:cNvSpPr/>
          <p:nvPr/>
        </p:nvSpPr>
        <p:spPr>
          <a:xfrm>
            <a:off x="1039855" y="2690896"/>
            <a:ext cx="263347" cy="263347"/>
          </a:xfrm>
          <a:prstGeom prst="donu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rot="18900000">
            <a:off x="1237366" y="2901574"/>
            <a:ext cx="65836" cy="171175"/>
          </a:xfrm>
          <a:prstGeom prst="round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0" y="2514600"/>
            <a:ext cx="9144000" cy="457200"/>
          </a:xfrm>
          <a:prstGeom prst="rect">
            <a:avLst/>
          </a:prstGeom>
          <a:noFill/>
        </p:spPr>
        <p:txBody>
          <a:bodyPr wrap="square" anchor="t" lIns="0" rIns="0" tIns="0" bIns="0">
            <a:spAutoFit/>
          </a:bodyPr>
          <a:lstStyle/>
          <a:p>
            <a:pPr algn="l">
              <a:lnSpc>
                <a:spcPct val="105000"/>
              </a:lnSpc>
              <a:spcBef>
                <a:spcPts val="0"/>
              </a:spcBef>
              <a:spcAft>
                <a:spcPts val="600"/>
              </a:spcAft>
            </a:pPr>
            <a:r>
              <a:rPr sz="1800" b="1">
                <a:solidFill>
                  <a:srgbClr val="1A2238"/>
                </a:solidFill>
                <a:latin typeface="Calibri"/>
              </a:rPr>
              <a:t>Web monitoring</a:t>
            </a:r>
          </a:p>
        </p:txBody>
      </p:sp>
      <p:sp>
        <p:nvSpPr>
          <p:cNvPr id="11" name="TextBox 10"/>
          <p:cNvSpPr txBox="1"/>
          <p:nvPr/>
        </p:nvSpPr>
        <p:spPr>
          <a:xfrm>
            <a:off x="1828800" y="2916936"/>
            <a:ext cx="9326880" cy="457200"/>
          </a:xfrm>
          <a:prstGeom prst="rect">
            <a:avLst/>
          </a:prstGeom>
          <a:noFill/>
        </p:spPr>
        <p:txBody>
          <a:bodyPr wrap="square" anchor="t" lIns="0" rIns="0" tIns="0" bIns="0">
            <a:spAutoFit/>
          </a:bodyPr>
          <a:lstStyle/>
          <a:p>
            <a:pPr algn="l">
              <a:lnSpc>
                <a:spcPct val="105000"/>
              </a:lnSpc>
              <a:spcBef>
                <a:spcPts val="0"/>
              </a:spcBef>
              <a:spcAft>
                <a:spcPts val="600"/>
              </a:spcAft>
            </a:pPr>
            <a:r>
              <a:rPr sz="1400" b="0">
                <a:solidFill>
                  <a:srgbClr val="5A6473"/>
                </a:solidFill>
                <a:latin typeface="Calibri"/>
              </a:rPr>
              <a:t>Automatically find leaked copies in the wild — today we assume the suspect image is in hand.</a:t>
            </a:r>
          </a:p>
        </p:txBody>
      </p:sp>
      <p:sp>
        <p:nvSpPr>
          <p:cNvPr id="12" name="Rounded Rectangle 11"/>
          <p:cNvSpPr/>
          <p:nvPr/>
        </p:nvSpPr>
        <p:spPr>
          <a:xfrm>
            <a:off x="640080" y="3566160"/>
            <a:ext cx="10908792" cy="1051560"/>
          </a:xfrm>
          <a:prstGeom prst="roundRect">
            <a:avLst>
              <a:gd name="adj" fmla="val 7000"/>
            </a:avLst>
          </a:prstGeom>
          <a:solidFill>
            <a:srgbClr val="F5F7FA"/>
          </a:solidFill>
          <a:ln>
            <a:noFill/>
          </a:ln>
          <a:effectLst/>
          <a:effectLst>
            <a:outerShdw blurRad="80000" dist="30000" dir="5400000" rotWithShape="0">
              <a:srgbClr val="1A2238">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680" y="3767328"/>
            <a:ext cx="658368" cy="658368"/>
          </a:xfrm>
          <a:prstGeom prst="ellipse">
            <a:avLst/>
          </a:prstGeom>
          <a:solidFill>
            <a:srgbClr val="DB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26688" y="3951671"/>
            <a:ext cx="32918" cy="289681"/>
          </a:xfrm>
          <a:prstGeom prst="rect">
            <a:avLst/>
          </a:prstGeom>
          <a:solidFill>
            <a:srgbClr val="1FA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79357" y="3951671"/>
            <a:ext cx="19751" cy="289681"/>
          </a:xfrm>
          <a:prstGeom prst="rect">
            <a:avLst/>
          </a:prstGeom>
          <a:solidFill>
            <a:srgbClr val="1FA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125443" y="3951671"/>
            <a:ext cx="46085" cy="289681"/>
          </a:xfrm>
          <a:prstGeom prst="rect">
            <a:avLst/>
          </a:prstGeom>
          <a:solidFill>
            <a:srgbClr val="1FA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7864" y="3951671"/>
            <a:ext cx="19751" cy="289681"/>
          </a:xfrm>
          <a:prstGeom prst="rect">
            <a:avLst/>
          </a:prstGeom>
          <a:solidFill>
            <a:srgbClr val="1FA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43949" y="3951671"/>
            <a:ext cx="32918" cy="289681"/>
          </a:xfrm>
          <a:prstGeom prst="rect">
            <a:avLst/>
          </a:prstGeom>
          <a:solidFill>
            <a:srgbClr val="1FA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303202" y="3951671"/>
            <a:ext cx="19751" cy="289681"/>
          </a:xfrm>
          <a:prstGeom prst="rect">
            <a:avLst/>
          </a:prstGeom>
          <a:solidFill>
            <a:srgbClr val="1FA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342704" y="3951671"/>
            <a:ext cx="46085" cy="289681"/>
          </a:xfrm>
          <a:prstGeom prst="rect">
            <a:avLst/>
          </a:prstGeom>
          <a:solidFill>
            <a:srgbClr val="1FA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828800" y="3749040"/>
            <a:ext cx="9144000" cy="457200"/>
          </a:xfrm>
          <a:prstGeom prst="rect">
            <a:avLst/>
          </a:prstGeom>
          <a:noFill/>
        </p:spPr>
        <p:txBody>
          <a:bodyPr wrap="square" anchor="t" lIns="0" rIns="0" tIns="0" bIns="0">
            <a:spAutoFit/>
          </a:bodyPr>
          <a:lstStyle/>
          <a:p>
            <a:pPr algn="l">
              <a:lnSpc>
                <a:spcPct val="105000"/>
              </a:lnSpc>
              <a:spcBef>
                <a:spcPts val="0"/>
              </a:spcBef>
              <a:spcAft>
                <a:spcPts val="600"/>
              </a:spcAft>
            </a:pPr>
            <a:r>
              <a:rPr sz="1800" b="1">
                <a:solidFill>
                  <a:srgbClr val="1A2238"/>
                </a:solidFill>
                <a:latin typeface="Calibri"/>
              </a:rPr>
              <a:t>Serial capacity &amp; collusion resistance</a:t>
            </a:r>
          </a:p>
        </p:txBody>
      </p:sp>
      <p:sp>
        <p:nvSpPr>
          <p:cNvPr id="22" name="TextBox 21"/>
          <p:cNvSpPr txBox="1"/>
          <p:nvPr/>
        </p:nvSpPr>
        <p:spPr>
          <a:xfrm>
            <a:off x="1828800" y="4151376"/>
            <a:ext cx="9326880" cy="457200"/>
          </a:xfrm>
          <a:prstGeom prst="rect">
            <a:avLst/>
          </a:prstGeom>
          <a:noFill/>
        </p:spPr>
        <p:txBody>
          <a:bodyPr wrap="square" anchor="t" lIns="0" rIns="0" tIns="0" bIns="0">
            <a:spAutoFit/>
          </a:bodyPr>
          <a:lstStyle/>
          <a:p>
            <a:pPr algn="l">
              <a:lnSpc>
                <a:spcPct val="105000"/>
              </a:lnSpc>
              <a:spcBef>
                <a:spcPts val="0"/>
              </a:spcBef>
              <a:spcAft>
                <a:spcPts val="600"/>
              </a:spcAft>
            </a:pPr>
            <a:r>
              <a:rPr sz="1400" b="0">
                <a:solidFill>
                  <a:srgbClr val="5A6473"/>
                </a:solidFill>
                <a:latin typeface="Calibri"/>
              </a:rPr>
              <a:t>Carry thousands of distinct coded marks, hardened against recipients pooling copies.</a:t>
            </a:r>
          </a:p>
        </p:txBody>
      </p:sp>
      <p:sp>
        <p:nvSpPr>
          <p:cNvPr id="23" name="Rounded Rectangle 22"/>
          <p:cNvSpPr/>
          <p:nvPr/>
        </p:nvSpPr>
        <p:spPr>
          <a:xfrm>
            <a:off x="640080" y="4800600"/>
            <a:ext cx="10908792" cy="1051560"/>
          </a:xfrm>
          <a:prstGeom prst="roundRect">
            <a:avLst>
              <a:gd name="adj" fmla="val 7000"/>
            </a:avLst>
          </a:prstGeom>
          <a:solidFill>
            <a:srgbClr val="F5F7FA"/>
          </a:solidFill>
          <a:ln>
            <a:noFill/>
          </a:ln>
          <a:effectLst/>
          <a:effectLst>
            <a:outerShdw blurRad="80000" dist="30000" dir="5400000" rotWithShape="0">
              <a:srgbClr val="1A2238">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68680" y="5001768"/>
            <a:ext cx="658368" cy="658368"/>
          </a:xfrm>
          <a:prstGeom prst="ellipse">
            <a:avLst/>
          </a:prstGeom>
          <a:solidFill>
            <a:srgbClr val="DAD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26688" y="5159776"/>
            <a:ext cx="342351" cy="342351"/>
          </a:xfrm>
          <a:prstGeom prst="ellipse">
            <a:avLst/>
          </a:prstGeom>
          <a:solidFill>
            <a:srgbClr val="1A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Isosceles Triangle 25"/>
          <p:cNvSpPr/>
          <p:nvPr/>
        </p:nvSpPr>
        <p:spPr>
          <a:xfrm rot="5400000">
            <a:off x="1151778" y="5265115"/>
            <a:ext cx="118506" cy="131673"/>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828800" y="4983480"/>
            <a:ext cx="9144000" cy="457200"/>
          </a:xfrm>
          <a:prstGeom prst="rect">
            <a:avLst/>
          </a:prstGeom>
          <a:noFill/>
        </p:spPr>
        <p:txBody>
          <a:bodyPr wrap="square" anchor="t" lIns="0" rIns="0" tIns="0" bIns="0">
            <a:spAutoFit/>
          </a:bodyPr>
          <a:lstStyle/>
          <a:p>
            <a:pPr algn="l">
              <a:lnSpc>
                <a:spcPct val="105000"/>
              </a:lnSpc>
              <a:spcBef>
                <a:spcPts val="0"/>
              </a:spcBef>
              <a:spcAft>
                <a:spcPts val="600"/>
              </a:spcAft>
            </a:pPr>
            <a:r>
              <a:rPr sz="1800" b="1">
                <a:solidFill>
                  <a:srgbClr val="1A2238"/>
                </a:solidFill>
                <a:latin typeface="Calibri"/>
              </a:rPr>
              <a:t>Harder channels</a:t>
            </a:r>
          </a:p>
        </p:txBody>
      </p:sp>
      <p:sp>
        <p:nvSpPr>
          <p:cNvPr id="28" name="TextBox 27"/>
          <p:cNvSpPr txBox="1"/>
          <p:nvPr/>
        </p:nvSpPr>
        <p:spPr>
          <a:xfrm>
            <a:off x="1828800" y="5385816"/>
            <a:ext cx="9326880" cy="457200"/>
          </a:xfrm>
          <a:prstGeom prst="rect">
            <a:avLst/>
          </a:prstGeom>
          <a:noFill/>
        </p:spPr>
        <p:txBody>
          <a:bodyPr wrap="square" anchor="t" lIns="0" rIns="0" tIns="0" bIns="0">
            <a:spAutoFit/>
          </a:bodyPr>
          <a:lstStyle/>
          <a:p>
            <a:pPr algn="l">
              <a:lnSpc>
                <a:spcPct val="105000"/>
              </a:lnSpc>
              <a:spcBef>
                <a:spcPts val="0"/>
              </a:spcBef>
              <a:spcAft>
                <a:spcPts val="600"/>
              </a:spcAft>
            </a:pPr>
            <a:r>
              <a:rPr sz="1400" b="0">
                <a:solidFill>
                  <a:srgbClr val="5A6473"/>
                </a:solidFill>
                <a:latin typeface="Calibri"/>
              </a:rPr>
              <a:t>Extend robustness to video and camcorder capture — the dominant real-world leak path.</a:t>
            </a:r>
          </a:p>
        </p:txBody>
      </p:sp>
      <p:sp>
        <p:nvSpPr>
          <p:cNvPr id="29" name="TextBox 28"/>
          <p:cNvSpPr txBox="1"/>
          <p:nvPr/>
        </p:nvSpPr>
        <p:spPr>
          <a:xfrm>
            <a:off x="640080" y="6455664"/>
            <a:ext cx="4572000" cy="274320"/>
          </a:xfrm>
          <a:prstGeom prst="rect">
            <a:avLst/>
          </a:prstGeom>
          <a:noFill/>
        </p:spPr>
        <p:txBody>
          <a:bodyPr wrap="square" anchor="t" lIns="0" rIns="0" tIns="0" bIns="0">
            <a:spAutoFit/>
          </a:bodyPr>
          <a:lstStyle/>
          <a:p>
            <a:pPr algn="l">
              <a:lnSpc>
                <a:spcPct val="105000"/>
              </a:lnSpc>
              <a:spcBef>
                <a:spcPts val="0"/>
              </a:spcBef>
              <a:spcAft>
                <a:spcPts val="600"/>
              </a:spcAft>
            </a:pPr>
            <a:r>
              <a:rPr sz="1000" b="1">
                <a:solidFill>
                  <a:srgbClr val="5A6473"/>
                </a:solidFill>
                <a:latin typeface="Calibri"/>
              </a:rPr>
              <a:t>Invisign</a:t>
            </a:r>
            <a:r>
              <a:rPr sz="1000" b="0">
                <a:solidFill>
                  <a:srgbClr val="5A6473"/>
                </a:solidFill>
                <a:latin typeface="Calibri"/>
              </a:rPr>
              <a:t>  ·  Capstone defense</a:t>
            </a:r>
          </a:p>
        </p:txBody>
      </p:sp>
      <p:sp>
        <p:nvSpPr>
          <p:cNvPr id="30" name="TextBox 29"/>
          <p:cNvSpPr txBox="1"/>
          <p:nvPr/>
        </p:nvSpPr>
        <p:spPr>
          <a:xfrm>
            <a:off x="10881360" y="6455664"/>
            <a:ext cx="91440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a:solidFill>
                  <a:srgbClr val="5A6473"/>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566928"/>
            <a:ext cx="502920" cy="82296"/>
          </a:xfrm>
          <a:prstGeom prst="rect">
            <a:avLst/>
          </a:prstGeom>
          <a:solidFill>
            <a:srgbClr val="1FA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0160" y="411480"/>
            <a:ext cx="9144000" cy="365760"/>
          </a:xfrm>
          <a:prstGeom prst="rect">
            <a:avLst/>
          </a:prstGeom>
          <a:noFill/>
        </p:spPr>
        <p:txBody>
          <a:bodyPr wrap="square" anchor="t" lIns="0" rIns="0" tIns="0" bIns="0">
            <a:spAutoFit/>
          </a:bodyPr>
          <a:lstStyle/>
          <a:p>
            <a:pPr algn="l">
              <a:lnSpc>
                <a:spcPct val="105000"/>
              </a:lnSpc>
              <a:spcBef>
                <a:spcPts val="0"/>
              </a:spcBef>
              <a:spcAft>
                <a:spcPts val="600"/>
              </a:spcAft>
            </a:pPr>
            <a:r>
              <a:rPr sz="1400" b="1">
                <a:solidFill>
                  <a:srgbClr val="1FA97D"/>
                </a:solidFill>
                <a:latin typeface="Calibri"/>
              </a:rPr>
              <a:t>IN SUMMARY</a:t>
            </a:r>
          </a:p>
        </p:txBody>
      </p:sp>
      <p:sp>
        <p:nvSpPr>
          <p:cNvPr id="4" name="TextBox 3"/>
          <p:cNvSpPr txBox="1"/>
          <p:nvPr/>
        </p:nvSpPr>
        <p:spPr>
          <a:xfrm>
            <a:off x="640080" y="841248"/>
            <a:ext cx="10972800" cy="914400"/>
          </a:xfrm>
          <a:prstGeom prst="rect">
            <a:avLst/>
          </a:prstGeom>
          <a:noFill/>
        </p:spPr>
        <p:txBody>
          <a:bodyPr wrap="square" anchor="t" lIns="0" rIns="0" tIns="0" bIns="0">
            <a:spAutoFit/>
          </a:bodyPr>
          <a:lstStyle/>
          <a:p>
            <a:pPr algn="l">
              <a:lnSpc>
                <a:spcPct val="100000"/>
              </a:lnSpc>
              <a:spcBef>
                <a:spcPts val="0"/>
              </a:spcBef>
              <a:spcAft>
                <a:spcPts val="600"/>
              </a:spcAft>
            </a:pPr>
            <a:r>
              <a:rPr sz="3200" b="1">
                <a:solidFill>
                  <a:srgbClr val="1A2238"/>
                </a:solidFill>
                <a:latin typeface="Calibri"/>
              </a:rPr>
              <a:t>What this project delivers</a:t>
            </a:r>
          </a:p>
        </p:txBody>
      </p:sp>
      <p:sp>
        <p:nvSpPr>
          <p:cNvPr id="5" name="Oval 4"/>
          <p:cNvSpPr/>
          <p:nvPr/>
        </p:nvSpPr>
        <p:spPr>
          <a:xfrm>
            <a:off x="640080" y="1874519"/>
            <a:ext cx="457200" cy="457200"/>
          </a:xfrm>
          <a:prstGeom prst="ellipse">
            <a:avLst/>
          </a:prstGeom>
          <a:solidFill>
            <a:srgbClr val="1FA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a:rPr>
              <a:t>✓</a:t>
            </a:r>
          </a:p>
        </p:txBody>
      </p:sp>
      <p:sp>
        <p:nvSpPr>
          <p:cNvPr id="6" name="TextBox 5"/>
          <p:cNvSpPr txBox="1"/>
          <p:nvPr/>
        </p:nvSpPr>
        <p:spPr>
          <a:xfrm>
            <a:off x="1325880" y="1837943"/>
            <a:ext cx="10058400" cy="457200"/>
          </a:xfrm>
          <a:prstGeom prst="rect">
            <a:avLst/>
          </a:prstGeom>
          <a:noFill/>
        </p:spPr>
        <p:txBody>
          <a:bodyPr wrap="square" anchor="t" lIns="0" rIns="0" tIns="0" bIns="0">
            <a:spAutoFit/>
          </a:bodyPr>
          <a:lstStyle/>
          <a:p>
            <a:pPr algn="l">
              <a:lnSpc>
                <a:spcPct val="105000"/>
              </a:lnSpc>
              <a:spcBef>
                <a:spcPts val="0"/>
              </a:spcBef>
              <a:spcAft>
                <a:spcPts val="600"/>
              </a:spcAft>
            </a:pPr>
            <a:r>
              <a:rPr sz="1900" b="1">
                <a:solidFill>
                  <a:srgbClr val="1A2238"/>
                </a:solidFill>
                <a:latin typeface="Calibri"/>
              </a:rPr>
              <a:t>A working invisible watermark</a:t>
            </a:r>
          </a:p>
        </p:txBody>
      </p:sp>
      <p:sp>
        <p:nvSpPr>
          <p:cNvPr id="7" name="TextBox 6"/>
          <p:cNvSpPr txBox="1"/>
          <p:nvPr/>
        </p:nvSpPr>
        <p:spPr>
          <a:xfrm>
            <a:off x="1325880" y="2258567"/>
            <a:ext cx="10058400" cy="548640"/>
          </a:xfrm>
          <a:prstGeom prst="rect">
            <a:avLst/>
          </a:prstGeom>
          <a:noFill/>
        </p:spPr>
        <p:txBody>
          <a:bodyPr wrap="square" anchor="t" lIns="0" rIns="0" tIns="0" bIns="0">
            <a:spAutoFit/>
          </a:bodyPr>
          <a:lstStyle/>
          <a:p>
            <a:pPr algn="l">
              <a:lnSpc>
                <a:spcPct val="105000"/>
              </a:lnSpc>
              <a:spcBef>
                <a:spcPts val="0"/>
              </a:spcBef>
              <a:spcAft>
                <a:spcPts val="600"/>
              </a:spcAft>
            </a:pPr>
            <a:r>
              <a:rPr sz="1450" b="0">
                <a:solidFill>
                  <a:srgbClr val="5A6473"/>
                </a:solidFill>
                <a:latin typeface="Calibri"/>
              </a:rPr>
              <a:t>Embeds and recovers a hidden mark at a strength the eye can't detect (~51 dB).</a:t>
            </a:r>
          </a:p>
        </p:txBody>
      </p:sp>
      <p:sp>
        <p:nvSpPr>
          <p:cNvPr id="8" name="Oval 7"/>
          <p:cNvSpPr/>
          <p:nvPr/>
        </p:nvSpPr>
        <p:spPr>
          <a:xfrm>
            <a:off x="640080" y="3008375"/>
            <a:ext cx="457200" cy="457200"/>
          </a:xfrm>
          <a:prstGeom prst="ellipse">
            <a:avLst/>
          </a:prstGeom>
          <a:solidFill>
            <a:srgbClr val="1FA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a:rPr>
              <a:t>✓</a:t>
            </a:r>
          </a:p>
        </p:txBody>
      </p:sp>
      <p:sp>
        <p:nvSpPr>
          <p:cNvPr id="9" name="TextBox 8"/>
          <p:cNvSpPr txBox="1"/>
          <p:nvPr/>
        </p:nvSpPr>
        <p:spPr>
          <a:xfrm>
            <a:off x="1325880" y="2971799"/>
            <a:ext cx="10058400" cy="457200"/>
          </a:xfrm>
          <a:prstGeom prst="rect">
            <a:avLst/>
          </a:prstGeom>
          <a:noFill/>
        </p:spPr>
        <p:txBody>
          <a:bodyPr wrap="square" anchor="t" lIns="0" rIns="0" tIns="0" bIns="0">
            <a:spAutoFit/>
          </a:bodyPr>
          <a:lstStyle/>
          <a:p>
            <a:pPr algn="l">
              <a:lnSpc>
                <a:spcPct val="105000"/>
              </a:lnSpc>
              <a:spcBef>
                <a:spcPts val="0"/>
              </a:spcBef>
              <a:spcAft>
                <a:spcPts val="600"/>
              </a:spcAft>
            </a:pPr>
            <a:r>
              <a:rPr sz="1900" b="1">
                <a:solidFill>
                  <a:srgbClr val="1A2238"/>
                </a:solidFill>
                <a:latin typeface="Calibri"/>
              </a:rPr>
              <a:t>Robust where it counts</a:t>
            </a:r>
          </a:p>
        </p:txBody>
      </p:sp>
      <p:sp>
        <p:nvSpPr>
          <p:cNvPr id="10" name="TextBox 9"/>
          <p:cNvSpPr txBox="1"/>
          <p:nvPr/>
        </p:nvSpPr>
        <p:spPr>
          <a:xfrm>
            <a:off x="1325880" y="3392423"/>
            <a:ext cx="10058400" cy="548640"/>
          </a:xfrm>
          <a:prstGeom prst="rect">
            <a:avLst/>
          </a:prstGeom>
          <a:noFill/>
        </p:spPr>
        <p:txBody>
          <a:bodyPr wrap="square" anchor="t" lIns="0" rIns="0" tIns="0" bIns="0">
            <a:spAutoFit/>
          </a:bodyPr>
          <a:lstStyle/>
          <a:p>
            <a:pPr algn="l">
              <a:lnSpc>
                <a:spcPct val="105000"/>
              </a:lnSpc>
              <a:spcBef>
                <a:spcPts val="0"/>
              </a:spcBef>
              <a:spcAft>
                <a:spcPts val="600"/>
              </a:spcAft>
            </a:pPr>
            <a:r>
              <a:rPr sz="1450" b="0">
                <a:solidFill>
                  <a:srgbClr val="5A6473"/>
                </a:solidFill>
                <a:latin typeface="Calibri"/>
              </a:rPr>
              <a:t>Survives geometry, JPEG, blur and noise — the edits a leaked image really undergoes.</a:t>
            </a:r>
          </a:p>
        </p:txBody>
      </p:sp>
      <p:sp>
        <p:nvSpPr>
          <p:cNvPr id="11" name="Oval 10"/>
          <p:cNvSpPr/>
          <p:nvPr/>
        </p:nvSpPr>
        <p:spPr>
          <a:xfrm>
            <a:off x="640080" y="4142231"/>
            <a:ext cx="457200" cy="457200"/>
          </a:xfrm>
          <a:prstGeom prst="ellipse">
            <a:avLst/>
          </a:prstGeom>
          <a:solidFill>
            <a:srgbClr val="1FA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a:rPr>
              <a:t>✓</a:t>
            </a:r>
          </a:p>
        </p:txBody>
      </p:sp>
      <p:sp>
        <p:nvSpPr>
          <p:cNvPr id="12" name="TextBox 11"/>
          <p:cNvSpPr txBox="1"/>
          <p:nvPr/>
        </p:nvSpPr>
        <p:spPr>
          <a:xfrm>
            <a:off x="1325880" y="4105655"/>
            <a:ext cx="10058400" cy="457200"/>
          </a:xfrm>
          <a:prstGeom prst="rect">
            <a:avLst/>
          </a:prstGeom>
          <a:noFill/>
        </p:spPr>
        <p:txBody>
          <a:bodyPr wrap="square" anchor="t" lIns="0" rIns="0" tIns="0" bIns="0">
            <a:spAutoFit/>
          </a:bodyPr>
          <a:lstStyle/>
          <a:p>
            <a:pPr algn="l">
              <a:lnSpc>
                <a:spcPct val="105000"/>
              </a:lnSpc>
              <a:spcBef>
                <a:spcPts val="0"/>
              </a:spcBef>
              <a:spcAft>
                <a:spcPts val="600"/>
              </a:spcAft>
            </a:pPr>
            <a:r>
              <a:rPr sz="1900" b="1">
                <a:solidFill>
                  <a:srgbClr val="1A2238"/>
                </a:solidFill>
                <a:latin typeface="Calibri"/>
              </a:rPr>
              <a:t>Honestly measured</a:t>
            </a:r>
          </a:p>
        </p:txBody>
      </p:sp>
      <p:sp>
        <p:nvSpPr>
          <p:cNvPr id="13" name="TextBox 12"/>
          <p:cNvSpPr txBox="1"/>
          <p:nvPr/>
        </p:nvSpPr>
        <p:spPr>
          <a:xfrm>
            <a:off x="1325880" y="4526279"/>
            <a:ext cx="10058400" cy="548640"/>
          </a:xfrm>
          <a:prstGeom prst="rect">
            <a:avLst/>
          </a:prstGeom>
          <a:noFill/>
        </p:spPr>
        <p:txBody>
          <a:bodyPr wrap="square" anchor="t" lIns="0" rIns="0" tIns="0" bIns="0">
            <a:spAutoFit/>
          </a:bodyPr>
          <a:lstStyle/>
          <a:p>
            <a:pPr algn="l">
              <a:lnSpc>
                <a:spcPct val="105000"/>
              </a:lnSpc>
              <a:spcBef>
                <a:spcPts val="0"/>
              </a:spcBef>
              <a:spcAft>
                <a:spcPts val="600"/>
              </a:spcAft>
            </a:pPr>
            <a:r>
              <a:rPr sz="1450" b="0">
                <a:solidFill>
                  <a:srgbClr val="5A6473"/>
                </a:solidFill>
                <a:latin typeface="Calibri"/>
              </a:rPr>
              <a:t>Validated on a standard 39-image benchmark against true no-mark baselines.</a:t>
            </a:r>
          </a:p>
        </p:txBody>
      </p:sp>
      <p:sp>
        <p:nvSpPr>
          <p:cNvPr id="14" name="Oval 13"/>
          <p:cNvSpPr/>
          <p:nvPr/>
        </p:nvSpPr>
        <p:spPr>
          <a:xfrm>
            <a:off x="640080" y="5276087"/>
            <a:ext cx="457200" cy="457200"/>
          </a:xfrm>
          <a:prstGeom prst="ellipse">
            <a:avLst/>
          </a:prstGeom>
          <a:solidFill>
            <a:srgbClr val="1FA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a:rPr>
              <a:t>✓</a:t>
            </a:r>
          </a:p>
        </p:txBody>
      </p:sp>
      <p:sp>
        <p:nvSpPr>
          <p:cNvPr id="15" name="TextBox 14"/>
          <p:cNvSpPr txBox="1"/>
          <p:nvPr/>
        </p:nvSpPr>
        <p:spPr>
          <a:xfrm>
            <a:off x="1325880" y="5239511"/>
            <a:ext cx="10058400" cy="457200"/>
          </a:xfrm>
          <a:prstGeom prst="rect">
            <a:avLst/>
          </a:prstGeom>
          <a:noFill/>
        </p:spPr>
        <p:txBody>
          <a:bodyPr wrap="square" anchor="t" lIns="0" rIns="0" tIns="0" bIns="0">
            <a:spAutoFit/>
          </a:bodyPr>
          <a:lstStyle/>
          <a:p>
            <a:pPr algn="l">
              <a:lnSpc>
                <a:spcPct val="105000"/>
              </a:lnSpc>
              <a:spcBef>
                <a:spcPts val="0"/>
              </a:spcBef>
              <a:spcAft>
                <a:spcPts val="600"/>
              </a:spcAft>
            </a:pPr>
            <a:r>
              <a:rPr sz="1900" b="1">
                <a:solidFill>
                  <a:srgbClr val="1A2238"/>
                </a:solidFill>
                <a:latin typeface="Calibri"/>
              </a:rPr>
              <a:t>A complete product</a:t>
            </a:r>
          </a:p>
        </p:txBody>
      </p:sp>
      <p:sp>
        <p:nvSpPr>
          <p:cNvPr id="16" name="TextBox 15"/>
          <p:cNvSpPr txBox="1"/>
          <p:nvPr/>
        </p:nvSpPr>
        <p:spPr>
          <a:xfrm>
            <a:off x="1325880" y="5660135"/>
            <a:ext cx="10058400" cy="548640"/>
          </a:xfrm>
          <a:prstGeom prst="rect">
            <a:avLst/>
          </a:prstGeom>
          <a:noFill/>
        </p:spPr>
        <p:txBody>
          <a:bodyPr wrap="square" anchor="t" lIns="0" rIns="0" tIns="0" bIns="0">
            <a:spAutoFit/>
          </a:bodyPr>
          <a:lstStyle/>
          <a:p>
            <a:pPr algn="l">
              <a:lnSpc>
                <a:spcPct val="105000"/>
              </a:lnSpc>
              <a:spcBef>
                <a:spcPts val="0"/>
              </a:spcBef>
              <a:spcAft>
                <a:spcPts val="600"/>
              </a:spcAft>
            </a:pPr>
            <a:r>
              <a:rPr sz="1450" b="0">
                <a:solidFill>
                  <a:srgbClr val="5A6473"/>
                </a:solidFill>
                <a:latin typeface="Calibri"/>
              </a:rPr>
              <a:t>End-to-end web app, from upload to extraction, deployed at invisign.com.</a:t>
            </a:r>
          </a:p>
        </p:txBody>
      </p:sp>
      <p:sp>
        <p:nvSpPr>
          <p:cNvPr id="17" name="TextBox 16"/>
          <p:cNvSpPr txBox="1"/>
          <p:nvPr/>
        </p:nvSpPr>
        <p:spPr>
          <a:xfrm>
            <a:off x="640080" y="6455664"/>
            <a:ext cx="4572000" cy="274320"/>
          </a:xfrm>
          <a:prstGeom prst="rect">
            <a:avLst/>
          </a:prstGeom>
          <a:noFill/>
        </p:spPr>
        <p:txBody>
          <a:bodyPr wrap="square" anchor="t" lIns="0" rIns="0" tIns="0" bIns="0">
            <a:spAutoFit/>
          </a:bodyPr>
          <a:lstStyle/>
          <a:p>
            <a:pPr algn="l">
              <a:lnSpc>
                <a:spcPct val="105000"/>
              </a:lnSpc>
              <a:spcBef>
                <a:spcPts val="0"/>
              </a:spcBef>
              <a:spcAft>
                <a:spcPts val="600"/>
              </a:spcAft>
            </a:pPr>
            <a:r>
              <a:rPr sz="1000" b="1">
                <a:solidFill>
                  <a:srgbClr val="5A6473"/>
                </a:solidFill>
                <a:latin typeface="Calibri"/>
              </a:rPr>
              <a:t>Invisign</a:t>
            </a:r>
            <a:r>
              <a:rPr sz="1000" b="0">
                <a:solidFill>
                  <a:srgbClr val="5A6473"/>
                </a:solidFill>
                <a:latin typeface="Calibri"/>
              </a:rPr>
              <a:t>  ·  Capstone defense</a:t>
            </a:r>
          </a:p>
        </p:txBody>
      </p:sp>
      <p:sp>
        <p:nvSpPr>
          <p:cNvPr id="18" name="TextBox 17"/>
          <p:cNvSpPr txBox="1"/>
          <p:nvPr/>
        </p:nvSpPr>
        <p:spPr>
          <a:xfrm>
            <a:off x="10881360" y="6455664"/>
            <a:ext cx="914400" cy="274320"/>
          </a:xfrm>
          <a:prstGeom prst="rect">
            <a:avLst/>
          </a:prstGeom>
          <a:noFill/>
        </p:spPr>
        <p:txBody>
          <a:bodyPr wrap="square" anchor="t" lIns="0" rIns="0" tIns="0" bIns="0">
            <a:spAutoFit/>
          </a:bodyPr>
          <a:lstStyle/>
          <a:p>
            <a:pPr algn="r">
              <a:lnSpc>
                <a:spcPct val="105000"/>
              </a:lnSpc>
              <a:spcBef>
                <a:spcPts val="0"/>
              </a:spcBef>
              <a:spcAft>
                <a:spcPts val="600"/>
              </a:spcAft>
            </a:pPr>
            <a:r>
              <a:rPr sz="1000" b="0">
                <a:solidFill>
                  <a:srgbClr val="5A6473"/>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41C33"/>
        </a:solidFill>
        <a:effectLst/>
      </p:bgPr>
    </p:bg>
    <p:spTree>
      <p:nvGrpSpPr>
        <p:cNvPr id="1" name=""/>
        <p:cNvGrpSpPr/>
        <p:nvPr/>
      </p:nvGrpSpPr>
      <p:grpSpPr/>
      <p:sp>
        <p:nvSpPr>
          <p:cNvPr id="2" name="5-Point Star 1"/>
          <p:cNvSpPr/>
          <p:nvPr/>
        </p:nvSpPr>
        <p:spPr>
          <a:xfrm>
            <a:off x="8778240" y="-731520"/>
            <a:ext cx="4754880" cy="4754880"/>
          </a:xfrm>
          <a:prstGeom prst="star5">
            <a:avLst/>
          </a:prstGeom>
          <a:solidFill>
            <a:srgbClr val="20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5-Point Star 2"/>
          <p:cNvSpPr/>
          <p:nvPr/>
        </p:nvSpPr>
        <p:spPr>
          <a:xfrm>
            <a:off x="10424160" y="3657600"/>
            <a:ext cx="2194560" cy="2194560"/>
          </a:xfrm>
          <a:prstGeom prst="star5">
            <a:avLst/>
          </a:prstGeom>
          <a:solidFill>
            <a:srgbClr val="20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377440"/>
            <a:ext cx="640080" cy="109728"/>
          </a:xfrm>
          <a:prstGeom prst="rect">
            <a:avLst/>
          </a:prstGeom>
          <a:solidFill>
            <a:srgbClr val="1FA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606040"/>
            <a:ext cx="10972800" cy="1097280"/>
          </a:xfrm>
          <a:prstGeom prst="rect">
            <a:avLst/>
          </a:prstGeom>
          <a:noFill/>
        </p:spPr>
        <p:txBody>
          <a:bodyPr wrap="square" anchor="t" lIns="0" rIns="0" tIns="0" bIns="0">
            <a:spAutoFit/>
          </a:bodyPr>
          <a:lstStyle/>
          <a:p>
            <a:pPr algn="l">
              <a:lnSpc>
                <a:spcPct val="105000"/>
              </a:lnSpc>
              <a:spcBef>
                <a:spcPts val="0"/>
              </a:spcBef>
              <a:spcAft>
                <a:spcPts val="600"/>
              </a:spcAft>
            </a:pPr>
            <a:r>
              <a:rPr sz="5600" b="1">
                <a:solidFill>
                  <a:srgbClr val="FFFFFF"/>
                </a:solidFill>
                <a:latin typeface="Calibri"/>
              </a:rPr>
              <a:t>Thank you</a:t>
            </a:r>
          </a:p>
        </p:txBody>
      </p:sp>
      <p:sp>
        <p:nvSpPr>
          <p:cNvPr id="6" name="TextBox 5"/>
          <p:cNvSpPr txBox="1"/>
          <p:nvPr/>
        </p:nvSpPr>
        <p:spPr>
          <a:xfrm>
            <a:off x="658368" y="3703320"/>
            <a:ext cx="10058400" cy="548640"/>
          </a:xfrm>
          <a:prstGeom prst="rect">
            <a:avLst/>
          </a:prstGeom>
          <a:noFill/>
        </p:spPr>
        <p:txBody>
          <a:bodyPr wrap="square" anchor="t" lIns="0" rIns="0" tIns="0" bIns="0">
            <a:spAutoFit/>
          </a:bodyPr>
          <a:lstStyle/>
          <a:p>
            <a:pPr algn="l">
              <a:lnSpc>
                <a:spcPct val="105000"/>
              </a:lnSpc>
              <a:spcBef>
                <a:spcPts val="0"/>
              </a:spcBef>
              <a:spcAft>
                <a:spcPts val="600"/>
              </a:spcAft>
            </a:pPr>
            <a:r>
              <a:rPr sz="2200" b="0">
                <a:solidFill>
                  <a:srgbClr val="C9D2E0"/>
                </a:solidFill>
                <a:latin typeface="Calibri"/>
              </a:rPr>
              <a:t>Questions &amp; discussion</a:t>
            </a:r>
          </a:p>
        </p:txBody>
      </p:sp>
      <p:sp>
        <p:nvSpPr>
          <p:cNvPr id="7" name="Rectangle 6"/>
          <p:cNvSpPr/>
          <p:nvPr/>
        </p:nvSpPr>
        <p:spPr>
          <a:xfrm>
            <a:off x="658368" y="4526280"/>
            <a:ext cx="2194560" cy="27432"/>
          </a:xfrm>
          <a:prstGeom prst="rect">
            <a:avLst/>
          </a:prstGeom>
          <a:solidFill>
            <a:srgbClr val="20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800600"/>
            <a:ext cx="10972800" cy="1097280"/>
          </a:xfrm>
          <a:prstGeom prst="rect">
            <a:avLst/>
          </a:prstGeom>
          <a:noFill/>
        </p:spPr>
        <p:txBody>
          <a:bodyPr wrap="square" anchor="t" lIns="0" rIns="0" tIns="0" bIns="0">
            <a:spAutoFit/>
          </a:bodyPr>
          <a:lstStyle/>
          <a:p>
            <a:pPr algn="l">
              <a:lnSpc>
                <a:spcPct val="105000"/>
              </a:lnSpc>
              <a:spcBef>
                <a:spcPts val="0"/>
              </a:spcBef>
              <a:spcAft>
                <a:spcPts val="600"/>
              </a:spcAft>
            </a:pPr>
            <a:r>
              <a:rPr sz="1700" b="1">
                <a:solidFill>
                  <a:srgbClr val="FFFFFF"/>
                </a:solidFill>
                <a:latin typeface="Calibri"/>
              </a:rPr>
              <a:t>Fernando Valdés García</a:t>
            </a:r>
          </a:p>
          <a:p>
            <a:pPr algn="l">
              <a:lnSpc>
                <a:spcPct val="105000"/>
              </a:lnSpc>
              <a:spcBef>
                <a:spcPts val="0"/>
              </a:spcBef>
              <a:spcAft>
                <a:spcPts val="600"/>
              </a:spcAft>
            </a:pPr>
            <a:r>
              <a:rPr sz="1500" b="1">
                <a:solidFill>
                  <a:srgbClr val="1FA97D"/>
                </a:solidFill>
                <a:latin typeface="Calibri"/>
              </a:rPr>
              <a:t>invisign.com</a:t>
            </a:r>
            <a:r>
              <a:rPr sz="1500" b="0">
                <a:solidFill>
                  <a:srgbClr val="C9D2E0"/>
                </a:solidFill>
                <a:latin typeface="Calibri"/>
              </a:rPr>
              <a:t>      ·      github.com/fvaldes0109/invisign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